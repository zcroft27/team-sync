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Raleway"/>
      <p:regular r:id="rId21"/>
      <p:bold r:id="rId22"/>
      <p:italic r:id="rId23"/>
      <p:boldItalic r:id="rId24"/>
    </p:embeddedFont>
    <p:embeddedFont>
      <p:font typeface="Lat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aleway-bold.fntdata"/><Relationship Id="rId21" Type="http://schemas.openxmlformats.org/officeDocument/2006/relationships/font" Target="fonts/Raleway-regular.fntdata"/><Relationship Id="rId24" Type="http://schemas.openxmlformats.org/officeDocument/2006/relationships/font" Target="fonts/Raleway-boldItalic.fntdata"/><Relationship Id="rId23" Type="http://schemas.openxmlformats.org/officeDocument/2006/relationships/font" Target="fonts/Raleway-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bold.fntdata"/><Relationship Id="rId25" Type="http://schemas.openxmlformats.org/officeDocument/2006/relationships/font" Target="fonts/Lato-regular.fntdata"/><Relationship Id="rId28" Type="http://schemas.openxmlformats.org/officeDocument/2006/relationships/font" Target="fonts/Lato-boldItalic.fntdata"/><Relationship Id="rId27" Type="http://schemas.openxmlformats.org/officeDocument/2006/relationships/font" Target="fonts/La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91e2d39c7a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91e2d39c7a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91e2d39c7a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91e2d39c7a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91e2d39c7a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91e2d39c7a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91e2d39c7a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91e2d39c7a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91e2d39c7a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91e2d39c7a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91e2d39c7a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91e2d39c7a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91e2d39c7a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91e2d39c7a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b177e99570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b177e99570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b177e99570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b177e99570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b177e99570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b177e99570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b177e9957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b177e9957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b177e99570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b177e99570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b177e99570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b177e99570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b177e99570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b177e99570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github.com/torvalds/linux/blob/master/include/linux/interrupt.h" TargetMode="External"/><Relationship Id="rId4" Type="http://schemas.openxmlformats.org/officeDocument/2006/relationships/image" Target="../media/image4.png"/><Relationship Id="rId5"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Interrupts, </a:t>
            </a:r>
            <a:r>
              <a:rPr lang="en"/>
              <a:t>Exceptions, and Signals in Linux</a:t>
            </a:r>
            <a:endParaRPr/>
          </a:p>
        </p:txBody>
      </p:sp>
      <p:sp>
        <p:nvSpPr>
          <p:cNvPr id="87" name="Google Shape;87;p13"/>
          <p:cNvSpPr txBox="1"/>
          <p:nvPr>
            <p:ph idx="1" type="subTitle"/>
          </p:nvPr>
        </p:nvSpPr>
        <p:spPr>
          <a:xfrm>
            <a:off x="729625" y="3172900"/>
            <a:ext cx="7688100" cy="1406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Understanding the differences, resolving misconceptions, and observability.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Zach Croft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Credits</a:t>
            </a:r>
            <a:endParaRPr/>
          </a:p>
        </p:txBody>
      </p:sp>
      <p:sp>
        <p:nvSpPr>
          <p:cNvPr id="93" name="Google Shape;93;p1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94" name="Google Shape;94;p14"/>
          <p:cNvPicPr preferRelativeResize="0"/>
          <p:nvPr/>
        </p:nvPicPr>
        <p:blipFill>
          <a:blip r:embed="rId3">
            <a:alphaModFix/>
          </a:blip>
          <a:stretch>
            <a:fillRect/>
          </a:stretch>
        </p:blipFill>
        <p:spPr>
          <a:xfrm>
            <a:off x="2998450" y="544650"/>
            <a:ext cx="3150700" cy="405420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5"/>
          <p:cNvSpPr txBox="1"/>
          <p:nvPr>
            <p:ph idx="1" type="body"/>
          </p:nvPr>
        </p:nvSpPr>
        <p:spPr>
          <a:xfrm>
            <a:off x="729450" y="2078875"/>
            <a:ext cx="7688700" cy="2977500"/>
          </a:xfrm>
          <a:prstGeom prst="rect">
            <a:avLst/>
          </a:prstGeom>
          <a:ln cap="flat" cmpd="sng" w="9525">
            <a:solidFill>
              <a:srgbClr val="FFFFFF"/>
            </a:solidFill>
            <a:prstDash val="solid"/>
            <a:round/>
            <a:headEnd len="sm" w="sm" type="none"/>
            <a:tailEnd len="sm" w="sm" type="none"/>
          </a:ln>
        </p:spPr>
        <p:txBody>
          <a:bodyPr anchorCtr="0" anchor="t" bIns="91425" lIns="91425" spcFirstLastPara="1" rIns="91425" wrap="square" tIns="91425">
            <a:normAutofit fontScale="92500" lnSpcReduction="20000"/>
          </a:bodyPr>
          <a:lstStyle/>
          <a:p>
            <a:pPr indent="-304958" lvl="0" marL="457200" rtl="0" algn="l">
              <a:spcBef>
                <a:spcPts val="0"/>
              </a:spcBef>
              <a:spcAft>
                <a:spcPts val="0"/>
              </a:spcAft>
              <a:buSzPct val="100000"/>
              <a:buChar char="-"/>
            </a:pPr>
            <a:r>
              <a:rPr lang="en"/>
              <a:t>Why interrupts?</a:t>
            </a:r>
            <a:endParaRPr/>
          </a:p>
          <a:p>
            <a:pPr indent="-304958" lvl="0" marL="457200" rtl="0" algn="l">
              <a:spcBef>
                <a:spcPts val="0"/>
              </a:spcBef>
              <a:spcAft>
                <a:spcPts val="0"/>
              </a:spcAft>
              <a:buSzPct val="100000"/>
              <a:buChar char="-"/>
            </a:pPr>
            <a:r>
              <a:rPr lang="en"/>
              <a:t>Asynchronous vs. synchronous interrupts vs. signals</a:t>
            </a:r>
            <a:endParaRPr/>
          </a:p>
          <a:p>
            <a:pPr indent="-304958" lvl="0" marL="457200" rtl="0" algn="l">
              <a:spcBef>
                <a:spcPts val="0"/>
              </a:spcBef>
              <a:spcAft>
                <a:spcPts val="0"/>
              </a:spcAft>
              <a:buSzPct val="100000"/>
              <a:buChar char="-"/>
            </a:pPr>
            <a:r>
              <a:rPr lang="en"/>
              <a:t>Execution mode vs. execution context</a:t>
            </a:r>
            <a:endParaRPr/>
          </a:p>
          <a:p>
            <a:pPr indent="-304958" lvl="0" marL="457200" rtl="0" algn="l">
              <a:spcBef>
                <a:spcPts val="0"/>
              </a:spcBef>
              <a:spcAft>
                <a:spcPts val="0"/>
              </a:spcAft>
              <a:buSzPct val="100000"/>
              <a:buChar char="-"/>
            </a:pPr>
            <a:r>
              <a:rPr lang="en"/>
              <a:t>Interrupt handlers, request_irq() and free_irq(), shared and unshared IRQ lines</a:t>
            </a:r>
            <a:endParaRPr/>
          </a:p>
          <a:p>
            <a:pPr indent="-304958" lvl="0" marL="457200" rtl="0" algn="l">
              <a:spcBef>
                <a:spcPts val="0"/>
              </a:spcBef>
              <a:spcAft>
                <a:spcPts val="0"/>
              </a:spcAft>
              <a:buSzPct val="100000"/>
              <a:buChar char="-"/>
            </a:pPr>
            <a:r>
              <a:rPr lang="en"/>
              <a:t>Top half vs. bottom half</a:t>
            </a:r>
            <a:endParaRPr/>
          </a:p>
          <a:p>
            <a:pPr indent="-304958" lvl="0" marL="457200" rtl="0" algn="l">
              <a:spcBef>
                <a:spcPts val="0"/>
              </a:spcBef>
              <a:spcAft>
                <a:spcPts val="0"/>
              </a:spcAft>
              <a:buSzPct val="100000"/>
              <a:buChar char="-"/>
            </a:pPr>
            <a:r>
              <a:rPr lang="en">
                <a:highlight>
                  <a:schemeClr val="lt1"/>
                </a:highlight>
              </a:rPr>
              <a:t>Kernel code race condition handling</a:t>
            </a:r>
            <a:endParaRPr>
              <a:highlight>
                <a:schemeClr val="lt1"/>
              </a:highlight>
            </a:endParaRPr>
          </a:p>
          <a:p>
            <a:pPr indent="-304958" lvl="0" marL="457200" rtl="0" algn="l">
              <a:spcBef>
                <a:spcPts val="0"/>
              </a:spcBef>
              <a:spcAft>
                <a:spcPts val="0"/>
              </a:spcAft>
              <a:buSzPct val="100000"/>
              <a:buChar char="-"/>
            </a:pPr>
            <a:r>
              <a:rPr lang="en"/>
              <a:t>Can I remove the default RTC handler with free_irq()?</a:t>
            </a:r>
            <a:endParaRPr/>
          </a:p>
          <a:p>
            <a:pPr indent="-304958" lvl="0" marL="457200" rtl="0" algn="l">
              <a:spcBef>
                <a:spcPts val="0"/>
              </a:spcBef>
              <a:spcAft>
                <a:spcPts val="0"/>
              </a:spcAft>
              <a:buSzPct val="100000"/>
              <a:buChar char="-"/>
            </a:pPr>
            <a:r>
              <a:rPr lang="en"/>
              <a:t>Demo: add a shared IRQ line to the timer to print “hello world”</a:t>
            </a:r>
            <a:endParaRPr/>
          </a:p>
          <a:p>
            <a:pPr indent="-304958" lvl="0" marL="457200" rtl="0" algn="l">
              <a:spcBef>
                <a:spcPts val="0"/>
              </a:spcBef>
              <a:spcAft>
                <a:spcPts val="0"/>
              </a:spcAft>
              <a:buSzPct val="100000"/>
              <a:buChar char="-"/>
            </a:pPr>
            <a:r>
              <a:rPr lang="en"/>
              <a:t>Puzzle: Nested Python signal handlers</a:t>
            </a:r>
            <a:endParaRPr/>
          </a:p>
          <a:p>
            <a:pPr indent="-304958" lvl="0" marL="457200" rtl="0" algn="l">
              <a:spcBef>
                <a:spcPts val="0"/>
              </a:spcBef>
              <a:spcAft>
                <a:spcPts val="0"/>
              </a:spcAft>
              <a:buSzPct val="100000"/>
              <a:buChar char="-"/>
            </a:pPr>
            <a:r>
              <a:rPr lang="en"/>
              <a:t>Conclusion</a:t>
            </a:r>
            <a:endParaRPr/>
          </a:p>
          <a:p>
            <a:pPr indent="0" lvl="0" marL="0" rtl="0" algn="l">
              <a:spcBef>
                <a:spcPts val="1200"/>
              </a:spcBef>
              <a:spcAft>
                <a:spcPts val="0"/>
              </a:spcAft>
              <a:buNone/>
            </a:pPr>
            <a:r>
              <a:rPr lang="en"/>
              <a:t>Not planning on directly discussing:</a:t>
            </a:r>
            <a:endParaRPr/>
          </a:p>
          <a:p>
            <a:pPr indent="-304958" lvl="0" marL="457200" rtl="0" algn="l">
              <a:spcBef>
                <a:spcPts val="1200"/>
              </a:spcBef>
              <a:spcAft>
                <a:spcPts val="0"/>
              </a:spcAft>
              <a:buSzPct val="100000"/>
              <a:buChar char="-"/>
            </a:pPr>
            <a:r>
              <a:rPr lang="en"/>
              <a:t>Nitty-gritty details of kernel source code (please don’t ask me, I don’t understand it…)!</a:t>
            </a:r>
            <a:endParaRPr/>
          </a:p>
          <a:p>
            <a:pPr indent="-304958" lvl="0" marL="457200" rtl="0" algn="l">
              <a:spcBef>
                <a:spcPts val="0"/>
              </a:spcBef>
              <a:spcAft>
                <a:spcPts val="0"/>
              </a:spcAft>
              <a:buSzPct val="100000"/>
              <a:buChar char="-"/>
            </a:pPr>
            <a:r>
              <a:rPr lang="en"/>
              <a:t>Details of use cases like syscalls, page faults, SIGINTs, etc.</a:t>
            </a:r>
            <a:endParaRPr/>
          </a:p>
          <a:p>
            <a:pPr indent="-304958" lvl="0" marL="457200" rtl="0" algn="l">
              <a:spcBef>
                <a:spcPts val="0"/>
              </a:spcBef>
              <a:spcAft>
                <a:spcPts val="0"/>
              </a:spcAft>
              <a:buSzPct val="100000"/>
              <a:buChar char="-"/>
            </a:pPr>
            <a:r>
              <a:rPr lang="en"/>
              <a:t>Most detail is on top-halves, not bottom-halves (the book has 30 pages on bottom-halves though)!</a:t>
            </a:r>
            <a:endParaRPr/>
          </a:p>
        </p:txBody>
      </p:sp>
      <p:sp>
        <p:nvSpPr>
          <p:cNvPr id="100" name="Google Shape;100;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Overview</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n" sz="1500"/>
              <a:t>A core OS responsibility is to manage hardware. Therefore, the kernel needs to communicate with the hardware. Processors can be orders of magnitude faster than the external hardware, it is not ideal for the kernel to block until receiving a response (e.g. reading from a disk).</a:t>
            </a:r>
            <a:endParaRPr sz="1500"/>
          </a:p>
          <a:p>
            <a:pPr indent="-323850" lvl="0" marL="457200" rtl="0" algn="l">
              <a:spcBef>
                <a:spcPts val="0"/>
              </a:spcBef>
              <a:spcAft>
                <a:spcPts val="0"/>
              </a:spcAft>
              <a:buSzPts val="1500"/>
              <a:buChar char="-"/>
            </a:pPr>
            <a:r>
              <a:rPr lang="en" sz="1500"/>
              <a:t>The OS could occasionally poll the hardware to check “are you done yet,” but this is inefficient. Flip the script and let the hardware notify the kernel.</a:t>
            </a:r>
            <a:endParaRPr sz="1500"/>
          </a:p>
          <a:p>
            <a:pPr indent="-323850" lvl="0" marL="457200" rtl="0" algn="l">
              <a:spcBef>
                <a:spcPts val="0"/>
              </a:spcBef>
              <a:spcAft>
                <a:spcPts val="0"/>
              </a:spcAft>
              <a:buSzPts val="1500"/>
              <a:buChar char="-"/>
            </a:pPr>
            <a:r>
              <a:rPr lang="en" sz="1500"/>
              <a:t>An interrupt can be physically produced by a signal to input pins on an interrupt controller.</a:t>
            </a:r>
            <a:endParaRPr sz="1500"/>
          </a:p>
          <a:p>
            <a:pPr indent="-323850" lvl="0" marL="457200" rtl="0" algn="l">
              <a:spcBef>
                <a:spcPts val="0"/>
              </a:spcBef>
              <a:spcAft>
                <a:spcPts val="0"/>
              </a:spcAft>
              <a:buSzPts val="1500"/>
              <a:buChar char="-"/>
            </a:pPr>
            <a:r>
              <a:rPr lang="en" sz="1500"/>
              <a:t>The controller sends a signal to the processor, which notifies the OS and </a:t>
            </a:r>
            <a:r>
              <a:rPr b="1" lang="en" sz="1500"/>
              <a:t>interrupt handlers</a:t>
            </a:r>
            <a:r>
              <a:rPr lang="en" sz="1500"/>
              <a:t>.</a:t>
            </a:r>
            <a:endParaRPr sz="1500"/>
          </a:p>
        </p:txBody>
      </p:sp>
      <p:sp>
        <p:nvSpPr>
          <p:cNvPr id="106" name="Google Shape;106;p1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interrupts?</a:t>
            </a:r>
            <a:endParaRPr/>
          </a:p>
        </p:txBody>
      </p:sp>
      <p:pic>
        <p:nvPicPr>
          <p:cNvPr id="107" name="Google Shape;107;p16"/>
          <p:cNvPicPr preferRelativeResize="0"/>
          <p:nvPr/>
        </p:nvPicPr>
        <p:blipFill>
          <a:blip r:embed="rId3">
            <a:alphaModFix/>
          </a:blip>
          <a:stretch>
            <a:fillRect/>
          </a:stretch>
        </p:blipFill>
        <p:spPr>
          <a:xfrm>
            <a:off x="7111542" y="483600"/>
            <a:ext cx="2032452" cy="11733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7"/>
          <p:cNvSpPr txBox="1"/>
          <p:nvPr>
            <p:ph idx="1" type="body"/>
          </p:nvPr>
        </p:nvSpPr>
        <p:spPr>
          <a:xfrm>
            <a:off x="729450" y="2078875"/>
            <a:ext cx="7688700" cy="29673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Each physical device has a unique </a:t>
            </a:r>
            <a:r>
              <a:rPr b="1" lang="en"/>
              <a:t>interrupt request (IRQ)</a:t>
            </a:r>
            <a:r>
              <a:rPr lang="en"/>
              <a:t> </a:t>
            </a:r>
            <a:r>
              <a:rPr b="1" lang="en"/>
              <a:t>line</a:t>
            </a:r>
            <a:r>
              <a:rPr lang="en"/>
              <a:t>.</a:t>
            </a:r>
            <a:endParaRPr/>
          </a:p>
          <a:p>
            <a:pPr indent="-298450" lvl="1" marL="914400" rtl="0" algn="l">
              <a:spcBef>
                <a:spcPts val="0"/>
              </a:spcBef>
              <a:spcAft>
                <a:spcPts val="0"/>
              </a:spcAft>
              <a:buSzPts val="1100"/>
              <a:buChar char="-"/>
            </a:pPr>
            <a:r>
              <a:rPr lang="en" sz="1300"/>
              <a:t>E.g. system timer is 0, keyboard interrupt is 1, etc.</a:t>
            </a:r>
            <a:endParaRPr/>
          </a:p>
          <a:p>
            <a:pPr indent="-298450" lvl="1" marL="914400" rtl="0" algn="l">
              <a:spcBef>
                <a:spcPts val="0"/>
              </a:spcBef>
              <a:spcAft>
                <a:spcPts val="0"/>
              </a:spcAft>
              <a:buSzPts val="1100"/>
              <a:buChar char="-"/>
            </a:pPr>
            <a:r>
              <a:rPr lang="en"/>
              <a:t>Some are hardcoded, others are dynamically assigned (e.g. plug in a cable to connect your iPhone).</a:t>
            </a:r>
            <a:endParaRPr/>
          </a:p>
          <a:p>
            <a:pPr indent="-311150" lvl="0" marL="457200" rtl="0" algn="l">
              <a:spcBef>
                <a:spcPts val="0"/>
              </a:spcBef>
              <a:spcAft>
                <a:spcPts val="0"/>
              </a:spcAft>
              <a:buSzPts val="1300"/>
              <a:buChar char="-"/>
            </a:pPr>
            <a:r>
              <a:rPr lang="en"/>
              <a:t>These interrupts are </a:t>
            </a:r>
            <a:r>
              <a:rPr b="1" lang="en"/>
              <a:t>asynchronous</a:t>
            </a:r>
            <a:r>
              <a:rPr lang="en"/>
              <a:t>, meaning they can happen at any time, agnostic to the system timer (different than the much, much faster CPU clock).</a:t>
            </a:r>
            <a:endParaRPr/>
          </a:p>
          <a:p>
            <a:pPr indent="-311150" lvl="0" marL="457200" rtl="0" algn="l">
              <a:spcBef>
                <a:spcPts val="0"/>
              </a:spcBef>
              <a:spcAft>
                <a:spcPts val="0"/>
              </a:spcAft>
              <a:buSzPts val="1300"/>
              <a:buChar char="-"/>
            </a:pPr>
            <a:r>
              <a:rPr b="1" lang="en"/>
              <a:t>Synchronous</a:t>
            </a:r>
            <a:r>
              <a:rPr lang="en"/>
              <a:t> interrupts, otherwise known as </a:t>
            </a:r>
            <a:r>
              <a:rPr i="1" lang="en"/>
              <a:t>exceptions</a:t>
            </a:r>
            <a:r>
              <a:rPr lang="en"/>
              <a:t>, are produced by the processor, synchronously with respect to the system timer.</a:t>
            </a:r>
            <a:endParaRPr/>
          </a:p>
          <a:p>
            <a:pPr indent="-298450" lvl="1" marL="914400" rtl="0" algn="l">
              <a:spcBef>
                <a:spcPts val="0"/>
              </a:spcBef>
              <a:spcAft>
                <a:spcPts val="0"/>
              </a:spcAft>
              <a:buSzPts val="1100"/>
              <a:buChar char="-"/>
            </a:pPr>
            <a:r>
              <a:rPr lang="en"/>
              <a:t>E.g. divide by zero, page fault, syscall, etc.</a:t>
            </a:r>
            <a:endParaRPr/>
          </a:p>
          <a:p>
            <a:pPr indent="-311150" lvl="0" marL="457200" rtl="0" algn="l">
              <a:spcBef>
                <a:spcPts val="0"/>
              </a:spcBef>
              <a:spcAft>
                <a:spcPts val="0"/>
              </a:spcAft>
              <a:buSzPts val="1300"/>
              <a:buChar char="-"/>
            </a:pPr>
            <a:r>
              <a:rPr b="1" lang="en"/>
              <a:t>Signals</a:t>
            </a:r>
            <a:r>
              <a:rPr lang="en"/>
              <a:t> are how the kernel notifies a process that something occurred.</a:t>
            </a:r>
            <a:endParaRPr/>
          </a:p>
          <a:p>
            <a:pPr indent="-298450" lvl="1" marL="914400" rtl="0" algn="l">
              <a:spcBef>
                <a:spcPts val="0"/>
              </a:spcBef>
              <a:spcAft>
                <a:spcPts val="0"/>
              </a:spcAft>
              <a:buSzPts val="1100"/>
              <a:buChar char="-"/>
            </a:pPr>
            <a:r>
              <a:rPr lang="en"/>
              <a:t>E.g. CTRL+C sends an async keyboard interrupt, kernel interprets this, and kernel sends SIGINT to process.</a:t>
            </a:r>
            <a:endParaRPr/>
          </a:p>
          <a:p>
            <a:pPr indent="-298450" lvl="2" marL="1371600" rtl="0" algn="l">
              <a:spcBef>
                <a:spcPts val="0"/>
              </a:spcBef>
              <a:spcAft>
                <a:spcPts val="0"/>
              </a:spcAft>
              <a:buSzPts val="1100"/>
              <a:buChar char="-"/>
            </a:pPr>
            <a:r>
              <a:rPr lang="en"/>
              <a:t>If process has no signal handler registered, SIGINT is defaulted to terminate.</a:t>
            </a:r>
            <a:endParaRPr/>
          </a:p>
          <a:p>
            <a:pPr indent="-311150" lvl="0" marL="457200" rtl="0" algn="l">
              <a:spcBef>
                <a:spcPts val="0"/>
              </a:spcBef>
              <a:spcAft>
                <a:spcPts val="0"/>
              </a:spcAft>
              <a:buSzPts val="1300"/>
              <a:buChar char="-"/>
            </a:pPr>
            <a:r>
              <a:rPr lang="en"/>
              <a:t>Since asynchronous interrupts may come at random times, the kernel offers a flag IRQF_SAMPLE_RANDOM to use the interrupts to contribute to the entropy pool (random #s).</a:t>
            </a:r>
            <a:endParaRPr/>
          </a:p>
        </p:txBody>
      </p:sp>
      <p:sp>
        <p:nvSpPr>
          <p:cNvPr id="113" name="Google Shape;113;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Asynchronous vs. synchronous interrupts, signals</a:t>
            </a:r>
            <a:endParaRPr/>
          </a:p>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b="1" lang="en"/>
              <a:t>Execution modes: </a:t>
            </a:r>
            <a:r>
              <a:rPr lang="en"/>
              <a:t>privilege</a:t>
            </a:r>
            <a:r>
              <a:rPr lang="en"/>
              <a:t> levels to </a:t>
            </a:r>
            <a:r>
              <a:rPr lang="en"/>
              <a:t>determine access, managed by a register in the CPU.</a:t>
            </a:r>
            <a:endParaRPr/>
          </a:p>
          <a:p>
            <a:pPr indent="-298767" lvl="0" marL="457200" rtl="0" algn="l">
              <a:spcBef>
                <a:spcPts val="1200"/>
              </a:spcBef>
              <a:spcAft>
                <a:spcPts val="0"/>
              </a:spcAft>
              <a:buSzPct val="100000"/>
              <a:buChar char="-"/>
            </a:pPr>
            <a:r>
              <a:rPr b="1" lang="en"/>
              <a:t>Kernel space: </a:t>
            </a:r>
            <a:r>
              <a:rPr lang="en"/>
              <a:t>unrestricted access to memory and hardware. Exclusive to kernel, with a protected memory space.</a:t>
            </a:r>
            <a:endParaRPr/>
          </a:p>
          <a:p>
            <a:pPr indent="-298767" lvl="0" marL="457200" rtl="0" algn="l">
              <a:spcBef>
                <a:spcPts val="0"/>
              </a:spcBef>
              <a:spcAft>
                <a:spcPts val="0"/>
              </a:spcAft>
              <a:buSzPct val="100000"/>
              <a:buChar char="-"/>
            </a:pPr>
            <a:r>
              <a:rPr b="1" lang="en"/>
              <a:t>User space: </a:t>
            </a:r>
            <a:r>
              <a:rPr lang="en"/>
              <a:t>subset of machine’s available resources, cannot do all system operations, directly access hardware or physical memory. Make system calls (syscalls) to the kernel for access to privileged resources.</a:t>
            </a:r>
            <a:endParaRPr/>
          </a:p>
          <a:p>
            <a:pPr indent="0" lvl="0" marL="0" rtl="0" algn="l">
              <a:spcBef>
                <a:spcPts val="1200"/>
              </a:spcBef>
              <a:spcAft>
                <a:spcPts val="0"/>
              </a:spcAft>
              <a:buNone/>
            </a:pPr>
            <a:r>
              <a:rPr b="1" lang="en"/>
              <a:t>Execution context: </a:t>
            </a:r>
            <a:r>
              <a:rPr lang="en"/>
              <a:t>what triggered the code to run and what resources are available.</a:t>
            </a:r>
            <a:endParaRPr/>
          </a:p>
          <a:p>
            <a:pPr indent="-298767" lvl="0" marL="457200" rtl="0" algn="l">
              <a:spcBef>
                <a:spcPts val="1200"/>
              </a:spcBef>
              <a:spcAft>
                <a:spcPts val="0"/>
              </a:spcAft>
              <a:buSzPct val="100000"/>
              <a:buChar char="-"/>
            </a:pPr>
            <a:r>
              <a:rPr b="1" lang="en"/>
              <a:t>Process context:</a:t>
            </a:r>
            <a:r>
              <a:rPr lang="en"/>
              <a:t> code running on behalf of a specific process/thread. Can sleep, schedule, and access process state. Has an associated task (current).</a:t>
            </a:r>
            <a:endParaRPr/>
          </a:p>
          <a:p>
            <a:pPr indent="-298767" lvl="0" marL="457200" rtl="0" algn="l">
              <a:spcBef>
                <a:spcPts val="0"/>
              </a:spcBef>
              <a:spcAft>
                <a:spcPts val="0"/>
              </a:spcAft>
              <a:buSzPct val="100000"/>
              <a:buChar char="-"/>
            </a:pPr>
            <a:r>
              <a:rPr b="1" lang="en"/>
              <a:t>Interrupt context:</a:t>
            </a:r>
            <a:r>
              <a:rPr lang="en"/>
              <a:t>  </a:t>
            </a:r>
            <a:r>
              <a:rPr lang="en"/>
              <a:t>code running because hardware triggered an interrupt. </a:t>
            </a:r>
            <a:r>
              <a:rPr b="1" lang="en"/>
              <a:t>Not tied to any process.</a:t>
            </a:r>
            <a:r>
              <a:rPr lang="en"/>
              <a:t> Cannot sleep or schedule. So, must be fast and use atomic operations (more on this later).</a:t>
            </a:r>
            <a:endParaRPr/>
          </a:p>
          <a:p>
            <a:pPr indent="-287972" lvl="1" marL="914400" rtl="0" algn="l">
              <a:spcBef>
                <a:spcPts val="0"/>
              </a:spcBef>
              <a:spcAft>
                <a:spcPts val="0"/>
              </a:spcAft>
              <a:buSzPct val="100000"/>
              <a:buChar char="-"/>
            </a:pPr>
            <a:r>
              <a:rPr lang="en"/>
              <a:t>If slept, what process would the scheduler manage / wake up?</a:t>
            </a:r>
            <a:endParaRPr/>
          </a:p>
        </p:txBody>
      </p:sp>
      <p:sp>
        <p:nvSpPr>
          <p:cNvPr id="119" name="Google Shape;119;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Execution mode vs. execution context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The function the kernel runs in response to a specific interrupt is called an </a:t>
            </a:r>
            <a:r>
              <a:rPr b="1" lang="en"/>
              <a:t>interrupt handler</a:t>
            </a:r>
            <a:r>
              <a:rPr lang="en"/>
              <a:t>.</a:t>
            </a:r>
            <a:endParaRPr/>
          </a:p>
          <a:p>
            <a:pPr indent="-298450" lvl="1" marL="914400" rtl="0" algn="l">
              <a:spcBef>
                <a:spcPts val="0"/>
              </a:spcBef>
              <a:spcAft>
                <a:spcPts val="0"/>
              </a:spcAft>
              <a:buSzPts val="1100"/>
              <a:buChar char="-"/>
            </a:pPr>
            <a:r>
              <a:rPr lang="en"/>
              <a:t>See below kernel functions (not syscalls) for registering and unregistering interrupt handlers.</a:t>
            </a:r>
            <a:endParaRPr/>
          </a:p>
          <a:p>
            <a:pPr indent="-298450" lvl="2" marL="1371600" rtl="0" algn="l">
              <a:spcBef>
                <a:spcPts val="0"/>
              </a:spcBef>
              <a:spcAft>
                <a:spcPts val="0"/>
              </a:spcAft>
              <a:buSzPts val="1100"/>
              <a:buChar char="-"/>
            </a:pPr>
            <a:r>
              <a:rPr lang="en"/>
              <a:t>Declared in &lt;linux/interrupt.h&gt; (</a:t>
            </a:r>
            <a:r>
              <a:rPr i="1" lang="en"/>
              <a:t>include/linux/interrupt.h</a:t>
            </a:r>
            <a:r>
              <a:rPr lang="en"/>
              <a:t> in the</a:t>
            </a:r>
            <a:r>
              <a:rPr lang="en" u="sng">
                <a:solidFill>
                  <a:schemeClr val="hlink"/>
                </a:solidFill>
                <a:hlinkClick r:id="rId3"/>
              </a:rPr>
              <a:t> Linux repository</a:t>
            </a:r>
            <a:r>
              <a:rPr lang="en"/>
              <a:t>).</a:t>
            </a:r>
            <a:endParaRPr/>
          </a:p>
          <a:p>
            <a:pPr indent="-311150" lvl="0" marL="457200" rtl="0" algn="l">
              <a:spcBef>
                <a:spcPts val="0"/>
              </a:spcBef>
              <a:spcAft>
                <a:spcPts val="0"/>
              </a:spcAft>
              <a:buSzPts val="1300"/>
              <a:buChar char="-"/>
            </a:pPr>
            <a:r>
              <a:rPr lang="en"/>
              <a:t>“IRQF_SHARED—This flag specifies that the interrupt line can be shared among multiple interrupt handlers.” </a:t>
            </a:r>
            <a:endParaRPr/>
          </a:p>
          <a:p>
            <a:pPr indent="-298450" lvl="1" marL="914400" rtl="0" algn="l">
              <a:spcBef>
                <a:spcPts val="0"/>
              </a:spcBef>
              <a:spcAft>
                <a:spcPts val="0"/>
              </a:spcAft>
              <a:buSzPts val="1100"/>
              <a:buChar char="-"/>
            </a:pPr>
            <a:r>
              <a:rPr lang="en"/>
              <a:t>Each shared handler must </a:t>
            </a:r>
            <a:r>
              <a:rPr lang="en"/>
              <a:t>specify</a:t>
            </a:r>
            <a:r>
              <a:rPr lang="en"/>
              <a:t> the </a:t>
            </a:r>
            <a:r>
              <a:rPr b="1" i="1" lang="en"/>
              <a:t>*dev</a:t>
            </a:r>
            <a:r>
              <a:rPr lang="en"/>
              <a:t> argument as a ‘cookie’ or unique ID for the </a:t>
            </a:r>
            <a:r>
              <a:rPr i="1" lang="en"/>
              <a:t>handler (not IRQ line)</a:t>
            </a:r>
            <a:r>
              <a:rPr lang="en"/>
              <a:t>.</a:t>
            </a:r>
            <a:endParaRPr/>
          </a:p>
          <a:p>
            <a:pPr indent="-298450" lvl="1" marL="914400" rtl="0" algn="l">
              <a:spcBef>
                <a:spcPts val="0"/>
              </a:spcBef>
              <a:spcAft>
                <a:spcPts val="0"/>
              </a:spcAft>
              <a:buSzPts val="1100"/>
              <a:buChar char="-"/>
            </a:pPr>
            <a:r>
              <a:rPr lang="en"/>
              <a:t>If the handler is not shared, </a:t>
            </a:r>
            <a:r>
              <a:rPr b="1" i="1" lang="en"/>
              <a:t>*dev </a:t>
            </a:r>
            <a:r>
              <a:rPr lang="en"/>
              <a:t>can be NULL. Otherwise, it usually points to a device struct with metadata, which is guaranteed to be unique per handler.</a:t>
            </a:r>
            <a:endParaRPr/>
          </a:p>
        </p:txBody>
      </p:sp>
      <p:sp>
        <p:nvSpPr>
          <p:cNvPr id="125" name="Google Shape;125;p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Interrupt handlers, shared vs. unshared IRQ lines</a:t>
            </a:r>
            <a:endParaRPr/>
          </a:p>
        </p:txBody>
      </p:sp>
      <p:pic>
        <p:nvPicPr>
          <p:cNvPr id="126" name="Google Shape;126;p19"/>
          <p:cNvPicPr preferRelativeResize="0"/>
          <p:nvPr/>
        </p:nvPicPr>
        <p:blipFill>
          <a:blip r:embed="rId4">
            <a:alphaModFix/>
          </a:blip>
          <a:stretch>
            <a:fillRect/>
          </a:stretch>
        </p:blipFill>
        <p:spPr>
          <a:xfrm>
            <a:off x="128850" y="3834900"/>
            <a:ext cx="4721274" cy="1308600"/>
          </a:xfrm>
          <a:prstGeom prst="rect">
            <a:avLst/>
          </a:prstGeom>
          <a:noFill/>
          <a:ln>
            <a:noFill/>
          </a:ln>
        </p:spPr>
      </p:pic>
      <p:pic>
        <p:nvPicPr>
          <p:cNvPr id="127" name="Google Shape;127;p19"/>
          <p:cNvPicPr preferRelativeResize="0"/>
          <p:nvPr/>
        </p:nvPicPr>
        <p:blipFill rotWithShape="1">
          <a:blip r:embed="rId5">
            <a:alphaModFix/>
          </a:blip>
          <a:srcRect b="0" l="0" r="0" t="3222"/>
          <a:stretch/>
        </p:blipFill>
        <p:spPr>
          <a:xfrm>
            <a:off x="6016500" y="3984125"/>
            <a:ext cx="3003924" cy="11593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Top half vs. bottom half</a:t>
            </a:r>
            <a:endParaRPr/>
          </a:p>
        </p:txBody>
      </p:sp>
      <p:sp>
        <p:nvSpPr>
          <p:cNvPr id="133" name="Google Shape;133;p2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fontScale="92500" lnSpcReduction="10000"/>
          </a:bodyPr>
          <a:lstStyle/>
          <a:p>
            <a:pPr indent="-304958" lvl="0" marL="457200" rtl="0" algn="l">
              <a:spcBef>
                <a:spcPts val="0"/>
              </a:spcBef>
              <a:spcAft>
                <a:spcPts val="0"/>
              </a:spcAft>
              <a:buSzPct val="100000"/>
              <a:buChar char="-"/>
            </a:pPr>
            <a:r>
              <a:rPr lang="en"/>
              <a:t>Reminder: interrupt handlers operate in </a:t>
            </a:r>
            <a:r>
              <a:rPr i="1" lang="en"/>
              <a:t>interrupt context</a:t>
            </a:r>
            <a:r>
              <a:rPr lang="en"/>
              <a:t> and therefore cannot sleep or block.</a:t>
            </a:r>
            <a:endParaRPr/>
          </a:p>
          <a:p>
            <a:pPr indent="-293211" lvl="1" marL="914400" rtl="0" algn="l">
              <a:spcBef>
                <a:spcPts val="0"/>
              </a:spcBef>
              <a:spcAft>
                <a:spcPts val="0"/>
              </a:spcAft>
              <a:buSzPct val="100000"/>
              <a:buChar char="-"/>
            </a:pPr>
            <a:r>
              <a:rPr lang="en"/>
              <a:t>Keep interrupt handler code short and sweet to not hog the CPU for too long.</a:t>
            </a:r>
            <a:endParaRPr/>
          </a:p>
          <a:p>
            <a:pPr indent="-293211" lvl="1" marL="914400" rtl="0" algn="l">
              <a:spcBef>
                <a:spcPts val="0"/>
              </a:spcBef>
              <a:spcAft>
                <a:spcPts val="0"/>
              </a:spcAft>
              <a:buSzPct val="100000"/>
              <a:buChar char="-"/>
            </a:pPr>
            <a:r>
              <a:rPr lang="en"/>
              <a:t>But what if an interrupt needs to result in doing some blocking operation? </a:t>
            </a:r>
            <a:endParaRPr/>
          </a:p>
          <a:p>
            <a:pPr indent="-293211" lvl="1" marL="914400" rtl="0" algn="l">
              <a:spcBef>
                <a:spcPts val="0"/>
              </a:spcBef>
              <a:spcAft>
                <a:spcPts val="0"/>
              </a:spcAft>
              <a:buSzPct val="100000"/>
              <a:buChar char="-"/>
            </a:pPr>
            <a:r>
              <a:rPr lang="en"/>
              <a:t>E.g. plugging in a USB results in I/O to read device info, mounting file systems, etc.</a:t>
            </a:r>
            <a:endParaRPr/>
          </a:p>
          <a:p>
            <a:pPr indent="-304958" lvl="0" marL="457200" rtl="0" algn="l">
              <a:spcBef>
                <a:spcPts val="0"/>
              </a:spcBef>
              <a:spcAft>
                <a:spcPts val="0"/>
              </a:spcAft>
              <a:buSzPct val="100000"/>
              <a:buChar char="-"/>
            </a:pPr>
            <a:r>
              <a:rPr lang="en"/>
              <a:t>These are conflicting goals–return quickly, but do a lot of work. So, the kernel splits up interrupt response into two phases: a top half and a bottom half.</a:t>
            </a:r>
            <a:endParaRPr/>
          </a:p>
          <a:p>
            <a:pPr indent="-293211" lvl="1" marL="914400" rtl="0" algn="l">
              <a:spcBef>
                <a:spcPts val="0"/>
              </a:spcBef>
              <a:spcAft>
                <a:spcPts val="0"/>
              </a:spcAft>
              <a:buSzPct val="100000"/>
              <a:buChar char="-"/>
            </a:pPr>
            <a:r>
              <a:rPr b="1" lang="en"/>
              <a:t>Top half:</a:t>
            </a:r>
            <a:r>
              <a:rPr lang="en"/>
              <a:t> </a:t>
            </a:r>
            <a:r>
              <a:rPr i="1" lang="en"/>
              <a:t>the interrupt handler;</a:t>
            </a:r>
            <a:r>
              <a:rPr lang="en"/>
              <a:t> the critical info work, like acknowledging receipts, resetting hardware, etc.</a:t>
            </a:r>
            <a:endParaRPr/>
          </a:p>
          <a:p>
            <a:pPr indent="-293211" lvl="2" marL="1371600" rtl="0" algn="l">
              <a:spcBef>
                <a:spcPts val="0"/>
              </a:spcBef>
              <a:spcAft>
                <a:spcPts val="0"/>
              </a:spcAft>
              <a:buSzPct val="100000"/>
              <a:buChar char="-"/>
            </a:pPr>
            <a:r>
              <a:rPr lang="en"/>
              <a:t>At a minimum, disables this IRQ line on this processor. At a maximum, disables all IRQ lines on this processor.</a:t>
            </a:r>
            <a:endParaRPr/>
          </a:p>
          <a:p>
            <a:pPr indent="-293211" lvl="1" marL="914400" rtl="0" algn="l">
              <a:spcBef>
                <a:spcPts val="0"/>
              </a:spcBef>
              <a:spcAft>
                <a:spcPts val="0"/>
              </a:spcAft>
              <a:buSzPct val="100000"/>
              <a:buChar char="-"/>
            </a:pPr>
            <a:r>
              <a:rPr b="1" lang="en"/>
              <a:t>Bottom half: </a:t>
            </a:r>
            <a:r>
              <a:rPr lang="en"/>
              <a:t>deferred, less immediate work done asynchronously.</a:t>
            </a:r>
            <a:endParaRPr/>
          </a:p>
          <a:p>
            <a:pPr indent="-304958" lvl="0" marL="457200" rtl="0" algn="l">
              <a:spcBef>
                <a:spcPts val="0"/>
              </a:spcBef>
              <a:spcAft>
                <a:spcPts val="0"/>
              </a:spcAft>
              <a:buSzPct val="100000"/>
              <a:buChar char="-"/>
            </a:pPr>
            <a:r>
              <a:rPr lang="en"/>
              <a:t>Interrupt handlers do not need to be reentrant:</a:t>
            </a:r>
            <a:endParaRPr/>
          </a:p>
          <a:p>
            <a:pPr indent="-293211" lvl="1" marL="914400" rtl="0" algn="l">
              <a:spcBef>
                <a:spcPts val="0"/>
              </a:spcBef>
              <a:spcAft>
                <a:spcPts val="0"/>
              </a:spcAft>
              <a:buSzPct val="100000"/>
              <a:buChar char="-"/>
            </a:pPr>
            <a:r>
              <a:rPr lang="en"/>
              <a:t>Since top halves are supposed to be very quick, the kernel masks out the corresponding interrupt line on all processors, preventing another interrupt on the same line from being received.</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fontScale="92500" lnSpcReduction="20000"/>
          </a:bodyPr>
          <a:lstStyle/>
          <a:p>
            <a:pPr indent="-304958" lvl="0" marL="457200" rtl="0" algn="l">
              <a:spcBef>
                <a:spcPts val="0"/>
              </a:spcBef>
              <a:spcAft>
                <a:spcPts val="0"/>
              </a:spcAft>
              <a:buSzPct val="100000"/>
              <a:buChar char="-"/>
            </a:pPr>
            <a:r>
              <a:rPr lang="en"/>
              <a:t>Bottom </a:t>
            </a:r>
            <a:r>
              <a:rPr lang="en"/>
              <a:t>halves</a:t>
            </a:r>
            <a:r>
              <a:rPr lang="en"/>
              <a:t> </a:t>
            </a:r>
            <a:r>
              <a:rPr i="1" lang="en"/>
              <a:t>defer work later</a:t>
            </a:r>
            <a:r>
              <a:rPr lang="en"/>
              <a:t>. When is later? </a:t>
            </a:r>
            <a:r>
              <a:rPr b="1" lang="en"/>
              <a:t>Not now.</a:t>
            </a:r>
            <a:endParaRPr b="1"/>
          </a:p>
          <a:p>
            <a:pPr indent="-293211" lvl="1" marL="914400" rtl="0" algn="l">
              <a:spcBef>
                <a:spcPts val="0"/>
              </a:spcBef>
              <a:spcAft>
                <a:spcPts val="0"/>
              </a:spcAft>
              <a:buSzPct val="100000"/>
              <a:buChar char="-"/>
            </a:pPr>
            <a:r>
              <a:rPr lang="en"/>
              <a:t>Waits for all IRQ lines on this processor to be enabled before running.</a:t>
            </a:r>
            <a:endParaRPr b="1"/>
          </a:p>
          <a:p>
            <a:pPr indent="-304958" lvl="0" marL="457200" rtl="0" algn="l">
              <a:spcBef>
                <a:spcPts val="0"/>
              </a:spcBef>
              <a:spcAft>
                <a:spcPts val="0"/>
              </a:spcAft>
              <a:buSzPct val="100000"/>
              <a:buChar char="-"/>
            </a:pPr>
            <a:r>
              <a:rPr lang="en"/>
              <a:t>Bottom halves are made of up of:</a:t>
            </a:r>
            <a:endParaRPr/>
          </a:p>
          <a:p>
            <a:pPr indent="-293211" lvl="1" marL="914400" rtl="0" algn="l">
              <a:spcBef>
                <a:spcPts val="0"/>
              </a:spcBef>
              <a:spcAft>
                <a:spcPts val="0"/>
              </a:spcAft>
              <a:buSzPct val="100000"/>
              <a:buChar char="-"/>
            </a:pPr>
            <a:r>
              <a:rPr b="1" lang="en"/>
              <a:t>Softirq: </a:t>
            </a:r>
            <a:r>
              <a:rPr lang="en"/>
              <a:t>statically defined bottom </a:t>
            </a:r>
            <a:r>
              <a:rPr lang="en"/>
              <a:t>halves</a:t>
            </a:r>
            <a:r>
              <a:rPr lang="en"/>
              <a:t> that need to be compiled into the kernel ahead of time.</a:t>
            </a:r>
            <a:endParaRPr/>
          </a:p>
          <a:p>
            <a:pPr indent="-293211" lvl="2" marL="1371600" rtl="0" algn="l">
              <a:spcBef>
                <a:spcPts val="0"/>
              </a:spcBef>
              <a:spcAft>
                <a:spcPts val="0"/>
              </a:spcAft>
              <a:buSzPct val="100000"/>
              <a:buChar char="-"/>
            </a:pPr>
            <a:r>
              <a:rPr lang="en"/>
              <a:t>Can run simultaneously on any processor; even two of the same type can run concurrently.</a:t>
            </a:r>
            <a:endParaRPr/>
          </a:p>
          <a:p>
            <a:pPr indent="-293211" lvl="2" marL="1371600" rtl="0" algn="l">
              <a:spcBef>
                <a:spcPts val="0"/>
              </a:spcBef>
              <a:spcAft>
                <a:spcPts val="0"/>
              </a:spcAft>
              <a:buSzPct val="100000"/>
              <a:buChar char="-"/>
            </a:pPr>
            <a:r>
              <a:rPr lang="en"/>
              <a:t>At the </a:t>
            </a:r>
            <a:r>
              <a:rPr lang="en"/>
              <a:t>time</a:t>
            </a:r>
            <a:r>
              <a:rPr lang="en"/>
              <a:t> of the book, only networking and block devices use softirqs directly without tasklets.</a:t>
            </a:r>
            <a:endParaRPr/>
          </a:p>
          <a:p>
            <a:pPr indent="-293211" lvl="1" marL="914400" rtl="0" algn="l">
              <a:spcBef>
                <a:spcPts val="0"/>
              </a:spcBef>
              <a:spcAft>
                <a:spcPts val="0"/>
              </a:spcAft>
              <a:buSzPct val="100000"/>
              <a:buChar char="-"/>
            </a:pPr>
            <a:r>
              <a:rPr b="1" lang="en"/>
              <a:t>Tasklet: </a:t>
            </a:r>
            <a:r>
              <a:rPr lang="en"/>
              <a:t>dynamically</a:t>
            </a:r>
            <a:r>
              <a:rPr lang="en"/>
              <a:t> defined bottom halves built on top of softirqs.</a:t>
            </a:r>
            <a:endParaRPr/>
          </a:p>
          <a:p>
            <a:pPr indent="-293211" lvl="2" marL="1371600" rtl="0" algn="l">
              <a:spcBef>
                <a:spcPts val="0"/>
              </a:spcBef>
              <a:spcAft>
                <a:spcPts val="0"/>
              </a:spcAft>
              <a:buSzPct val="100000"/>
              <a:buChar char="-"/>
            </a:pPr>
            <a:r>
              <a:rPr lang="en"/>
              <a:t>Think of softirqs as mailboxes and tasklets as mail. Softirqs define priorities and the running mechanism. Tasklets are what gets run.</a:t>
            </a:r>
            <a:endParaRPr/>
          </a:p>
          <a:p>
            <a:pPr indent="-293211" lvl="2" marL="1371600" rtl="0" algn="l">
              <a:spcBef>
                <a:spcPts val="0"/>
              </a:spcBef>
              <a:spcAft>
                <a:spcPts val="0"/>
              </a:spcAft>
              <a:buSzPct val="100000"/>
              <a:buChar char="-"/>
            </a:pPr>
            <a:r>
              <a:rPr lang="en"/>
              <a:t>Two of the same type of tasklet cannot run simultaneously. Simpler than softirqs.</a:t>
            </a:r>
            <a:endParaRPr/>
          </a:p>
          <a:p>
            <a:pPr indent="-293211" lvl="1" marL="914400" rtl="0" algn="l">
              <a:spcBef>
                <a:spcPts val="0"/>
              </a:spcBef>
              <a:spcAft>
                <a:spcPts val="0"/>
              </a:spcAft>
              <a:buSzPct val="100000"/>
              <a:buChar char="-"/>
            </a:pPr>
            <a:r>
              <a:rPr b="1" lang="en"/>
              <a:t>Kernel timers: </a:t>
            </a:r>
            <a:r>
              <a:rPr lang="en"/>
              <a:t>defer work until a specific time has passed.</a:t>
            </a:r>
            <a:endParaRPr/>
          </a:p>
          <a:p>
            <a:pPr indent="-293211" lvl="1" marL="914400" rtl="0" algn="l">
              <a:spcBef>
                <a:spcPts val="0"/>
              </a:spcBef>
              <a:spcAft>
                <a:spcPts val="0"/>
              </a:spcAft>
              <a:buSzPct val="100000"/>
              <a:buChar char="-"/>
            </a:pPr>
            <a:r>
              <a:rPr b="1" lang="en"/>
              <a:t>Work queue: </a:t>
            </a:r>
            <a:r>
              <a:rPr lang="en"/>
              <a:t>The only bottom half that isn’t in interrupt context, but process context (can sleep).</a:t>
            </a:r>
            <a:endParaRPr/>
          </a:p>
          <a:p>
            <a:pPr indent="-293211" lvl="2" marL="1371600" rtl="0" algn="l">
              <a:spcBef>
                <a:spcPts val="0"/>
              </a:spcBef>
              <a:spcAft>
                <a:spcPts val="0"/>
              </a:spcAft>
              <a:buSzPct val="100000"/>
              <a:buChar char="-"/>
            </a:pPr>
            <a:r>
              <a:rPr lang="en"/>
              <a:t>Easiest to use but slowest. Runs in a kernel thread unlike the other three.</a:t>
            </a:r>
            <a:endParaRPr/>
          </a:p>
        </p:txBody>
      </p:sp>
      <p:sp>
        <p:nvSpPr>
          <p:cNvPr id="139" name="Google Shape;139;p2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Top half vs. bottom half (continued)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Kernel code race condition handling</a:t>
            </a:r>
            <a:endParaRPr/>
          </a:p>
        </p:txBody>
      </p:sp>
      <p:sp>
        <p:nvSpPr>
          <p:cNvPr id="145" name="Google Shape;145;p22"/>
          <p:cNvSpPr txBox="1"/>
          <p:nvPr>
            <p:ph idx="1" type="body"/>
          </p:nvPr>
        </p:nvSpPr>
        <p:spPr>
          <a:xfrm>
            <a:off x="729450" y="2078875"/>
            <a:ext cx="7688700" cy="2904600"/>
          </a:xfrm>
          <a:prstGeom prst="rect">
            <a:avLst/>
          </a:prstGeom>
        </p:spPr>
        <p:txBody>
          <a:bodyPr anchorCtr="0" anchor="t" bIns="91425" lIns="91425" spcFirstLastPara="1" rIns="91425" wrap="square" tIns="91425">
            <a:normAutofit fontScale="85000" lnSpcReduction="20000"/>
          </a:bodyPr>
          <a:lstStyle/>
          <a:p>
            <a:pPr indent="-298767" lvl="0" marL="457200" rtl="0" algn="l">
              <a:spcBef>
                <a:spcPts val="0"/>
              </a:spcBef>
              <a:spcAft>
                <a:spcPts val="0"/>
              </a:spcAft>
              <a:buSzPct val="100000"/>
              <a:buChar char="-"/>
            </a:pPr>
            <a:r>
              <a:rPr lang="en"/>
              <a:t>In standard, user-space code, to protect critical data from being </a:t>
            </a:r>
            <a:r>
              <a:rPr lang="en"/>
              <a:t>accessed</a:t>
            </a:r>
            <a:r>
              <a:rPr lang="en"/>
              <a:t> concurrently, you could do one of two things:</a:t>
            </a:r>
            <a:endParaRPr/>
          </a:p>
          <a:p>
            <a:pPr indent="-287972" lvl="1" marL="914400" rtl="0" algn="l">
              <a:spcBef>
                <a:spcPts val="0"/>
              </a:spcBef>
              <a:spcAft>
                <a:spcPts val="0"/>
              </a:spcAft>
              <a:buSzPct val="100000"/>
              <a:buChar char="-"/>
            </a:pPr>
            <a:r>
              <a:rPr lang="en"/>
              <a:t>Run it in a single-threaded environment.</a:t>
            </a:r>
            <a:endParaRPr/>
          </a:p>
          <a:p>
            <a:pPr indent="-287972" lvl="1" marL="914400" rtl="0" algn="l">
              <a:spcBef>
                <a:spcPts val="0"/>
              </a:spcBef>
              <a:spcAft>
                <a:spcPts val="0"/>
              </a:spcAft>
              <a:buSzPct val="100000"/>
              <a:buChar char="-"/>
            </a:pPr>
            <a:r>
              <a:rPr lang="en"/>
              <a:t>Run it in a multi-threaded environment and use locks appropriately.</a:t>
            </a:r>
            <a:endParaRPr/>
          </a:p>
          <a:p>
            <a:pPr indent="-298767" lvl="0" marL="457200" rtl="0" algn="l">
              <a:spcBef>
                <a:spcPts val="0"/>
              </a:spcBef>
              <a:spcAft>
                <a:spcPts val="0"/>
              </a:spcAft>
              <a:buSzPct val="100000"/>
              <a:buChar char="-"/>
            </a:pPr>
            <a:r>
              <a:rPr lang="en"/>
              <a:t>In kernel-space code, neither of these on their own is enough.</a:t>
            </a:r>
            <a:endParaRPr/>
          </a:p>
          <a:p>
            <a:pPr indent="-287972" lvl="1" marL="914400" rtl="0" algn="l">
              <a:spcBef>
                <a:spcPts val="0"/>
              </a:spcBef>
              <a:spcAft>
                <a:spcPts val="0"/>
              </a:spcAft>
              <a:buSzPct val="100000"/>
              <a:buChar char="-"/>
            </a:pPr>
            <a:r>
              <a:rPr lang="en"/>
              <a:t>Running program ‘foo’ in a single-processor kernel still allows for interrupt handler code (in the kernel) to use the same kernel code as ‘foo’ and potentially access critical data structures.</a:t>
            </a:r>
            <a:endParaRPr/>
          </a:p>
          <a:p>
            <a:pPr indent="-287972" lvl="2" marL="1371600" rtl="0" algn="l">
              <a:spcBef>
                <a:spcPts val="0"/>
              </a:spcBef>
              <a:spcAft>
                <a:spcPts val="0"/>
              </a:spcAft>
              <a:buSzPct val="100000"/>
              <a:buChar char="-"/>
            </a:pPr>
            <a:r>
              <a:rPr lang="en"/>
              <a:t>If you lock this section in the program ‘foo,’ then the </a:t>
            </a:r>
            <a:r>
              <a:rPr lang="en"/>
              <a:t>interrupt</a:t>
            </a:r>
            <a:r>
              <a:rPr lang="en"/>
              <a:t> handler will block forever!</a:t>
            </a:r>
            <a:endParaRPr/>
          </a:p>
          <a:p>
            <a:pPr indent="-287972" lvl="1" marL="914400" rtl="0" algn="l">
              <a:spcBef>
                <a:spcPts val="0"/>
              </a:spcBef>
              <a:spcAft>
                <a:spcPts val="0"/>
              </a:spcAft>
              <a:buSzPct val="100000"/>
              <a:buChar char="-"/>
            </a:pPr>
            <a:r>
              <a:rPr lang="en"/>
              <a:t>To prevent data races in kernel code, you must disable </a:t>
            </a:r>
            <a:r>
              <a:rPr i="1" lang="en"/>
              <a:t>local</a:t>
            </a:r>
            <a:r>
              <a:rPr lang="en"/>
              <a:t> interrupts temporarily.</a:t>
            </a:r>
            <a:endParaRPr/>
          </a:p>
          <a:p>
            <a:pPr indent="-287972" lvl="2" marL="1371600" rtl="0" algn="l">
              <a:spcBef>
                <a:spcPts val="0"/>
              </a:spcBef>
              <a:spcAft>
                <a:spcPts val="0"/>
              </a:spcAft>
              <a:buSzPct val="100000"/>
              <a:buChar char="-"/>
            </a:pPr>
            <a:r>
              <a:rPr lang="en"/>
              <a:t>In a </a:t>
            </a:r>
            <a:r>
              <a:rPr lang="en"/>
              <a:t>multiprocessor</a:t>
            </a:r>
            <a:r>
              <a:rPr lang="en"/>
              <a:t> kernel, disable local interrupts AND use locks.</a:t>
            </a:r>
            <a:endParaRPr/>
          </a:p>
          <a:p>
            <a:pPr indent="-298767" lvl="0" marL="457200" rtl="0" algn="l">
              <a:spcBef>
                <a:spcPts val="0"/>
              </a:spcBef>
              <a:spcAft>
                <a:spcPts val="0"/>
              </a:spcAft>
              <a:buSzPct val="100000"/>
              <a:buChar char="-"/>
            </a:pPr>
            <a:r>
              <a:rPr lang="en" sz="1300"/>
              <a:t>Interrupt handlers do not need to be reentrant:</a:t>
            </a:r>
            <a:endParaRPr sz="1300"/>
          </a:p>
          <a:p>
            <a:pPr indent="-287972" lvl="1" marL="914400" rtl="0" algn="l">
              <a:spcBef>
                <a:spcPts val="0"/>
              </a:spcBef>
              <a:spcAft>
                <a:spcPts val="0"/>
              </a:spcAft>
              <a:buSzPct val="100000"/>
              <a:buChar char="-"/>
            </a:pPr>
            <a:r>
              <a:rPr lang="en"/>
              <a:t>Since top halves are supposed to be very quick, the kernel masks out the corresponding interrupt line on this local processor, preventing another interrupt on the same line from being received. Other CPUs can use that IRQ line, so still lock if necessary!</a:t>
            </a:r>
            <a:endParaRPr/>
          </a:p>
          <a:p>
            <a:pPr indent="0" lvl="0" marL="0" rtl="0" algn="l">
              <a:spcBef>
                <a:spcPts val="1200"/>
              </a:spcBef>
              <a:spcAft>
                <a:spcPts val="0"/>
              </a:spcAft>
              <a:buNone/>
            </a:pPr>
            <a:r>
              <a:rPr lang="en" sz="1100"/>
              <a:t>spin_lock_irqsave(&amp;lock, flags);</a:t>
            </a:r>
            <a:endParaRPr sz="1100"/>
          </a:p>
          <a:p>
            <a:pPr indent="0" lvl="0" marL="0" rtl="0" algn="l">
              <a:spcBef>
                <a:spcPts val="1200"/>
              </a:spcBef>
              <a:spcAft>
                <a:spcPts val="0"/>
              </a:spcAft>
              <a:buNone/>
            </a:pPr>
            <a:r>
              <a:rPr lang="en" sz="1100"/>
              <a:t>/* critical section */</a:t>
            </a:r>
            <a:endParaRPr sz="1100"/>
          </a:p>
          <a:p>
            <a:pPr indent="0" lvl="0" marL="0" rtl="0" algn="l">
              <a:spcBef>
                <a:spcPts val="1200"/>
              </a:spcBef>
              <a:spcAft>
                <a:spcPts val="1200"/>
              </a:spcAft>
              <a:buNone/>
            </a:pPr>
            <a:r>
              <a:rPr lang="en" sz="1100"/>
              <a:t>spin_unlock_irqrestore(&amp;lock, flags);</a:t>
            </a:r>
            <a:endParaRPr sz="11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51" name="Google Shape;151;p2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52" name="Google Shape;152;p23"/>
          <p:cNvPicPr preferRelativeResize="0"/>
          <p:nvPr/>
        </p:nvPicPr>
        <p:blipFill>
          <a:blip r:embed="rId3">
            <a:alphaModFix/>
          </a:blip>
          <a:stretch>
            <a:fillRect/>
          </a:stretch>
        </p:blipFill>
        <p:spPr>
          <a:xfrm>
            <a:off x="1627648" y="793963"/>
            <a:ext cx="5888699" cy="35555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240"/>
              <a:t>Can I remove the default RTC handler with free_irq()?</a:t>
            </a:r>
            <a:endParaRPr sz="2240"/>
          </a:p>
        </p:txBody>
      </p:sp>
      <p:sp>
        <p:nvSpPr>
          <p:cNvPr id="158" name="Google Shape;158;p2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RTC is the real-time clock, with a driver in &lt;driver/char/rtc.c&gt;, handles setting the system clock, provides an alarm, etc. </a:t>
            </a:r>
            <a:r>
              <a:rPr i="1" lang="en"/>
              <a:t>This is different from the system timer, which is used for scheduling.</a:t>
            </a:r>
            <a:endParaRPr i="1"/>
          </a:p>
          <a:p>
            <a:pPr indent="-298450" lvl="1" marL="914400" rtl="0" algn="l">
              <a:spcBef>
                <a:spcPts val="0"/>
              </a:spcBef>
              <a:spcAft>
                <a:spcPts val="0"/>
              </a:spcAft>
              <a:buSzPts val="1100"/>
              <a:buChar char="-"/>
            </a:pPr>
            <a:r>
              <a:rPr lang="en"/>
              <a:t>When the driver loads, it registers the interrupt handler.</a:t>
            </a:r>
            <a:endParaRPr/>
          </a:p>
          <a:p>
            <a:pPr indent="-298450" lvl="1" marL="914400" rtl="0" algn="l">
              <a:spcBef>
                <a:spcPts val="0"/>
              </a:spcBef>
              <a:spcAft>
                <a:spcPts val="0"/>
              </a:spcAft>
              <a:buSzPts val="1100"/>
              <a:buChar char="-"/>
            </a:pPr>
            <a:r>
              <a:rPr lang="en"/>
              <a:t>Note: the </a:t>
            </a:r>
            <a:r>
              <a:rPr b="1" i="1" lang="en"/>
              <a:t>*dev</a:t>
            </a:r>
            <a:r>
              <a:rPr lang="en"/>
              <a:t> argument is non-null. Since an external source would not know the address of that argument, one cannot free this specific handler.</a:t>
            </a:r>
            <a:endParaRPr/>
          </a:p>
          <a:p>
            <a:pPr indent="-298450" lvl="2" marL="1371600" rtl="0" algn="l">
              <a:spcBef>
                <a:spcPts val="0"/>
              </a:spcBef>
              <a:spcAft>
                <a:spcPts val="0"/>
              </a:spcAft>
              <a:buSzPts val="1100"/>
              <a:buChar char="-"/>
            </a:pPr>
            <a:r>
              <a:rPr lang="en"/>
              <a:t>This</a:t>
            </a:r>
            <a:r>
              <a:rPr lang="en"/>
              <a:t> uses the IRQF_SHARED flag, so you can add handlers. However, if RTC did not allow for shared handlers, it would effectively block others from swapping out one handler for their own.</a:t>
            </a:r>
            <a:endParaRPr/>
          </a:p>
        </p:txBody>
      </p:sp>
      <p:pic>
        <p:nvPicPr>
          <p:cNvPr id="159" name="Google Shape;159;p24"/>
          <p:cNvPicPr preferRelativeResize="0"/>
          <p:nvPr/>
        </p:nvPicPr>
        <p:blipFill rotWithShape="1">
          <a:blip r:embed="rId3">
            <a:alphaModFix/>
          </a:blip>
          <a:srcRect b="0" l="0" r="0" t="6041"/>
          <a:stretch/>
        </p:blipFill>
        <p:spPr>
          <a:xfrm>
            <a:off x="1279050" y="3791025"/>
            <a:ext cx="6585902" cy="1111900"/>
          </a:xfrm>
          <a:prstGeom prst="rect">
            <a:avLst/>
          </a:prstGeom>
          <a:noFill/>
          <a:ln>
            <a:noFill/>
          </a:ln>
        </p:spPr>
      </p:pic>
      <p:cxnSp>
        <p:nvCxnSpPr>
          <p:cNvPr id="160" name="Google Shape;160;p24"/>
          <p:cNvCxnSpPr/>
          <p:nvPr/>
        </p:nvCxnSpPr>
        <p:spPr>
          <a:xfrm>
            <a:off x="6920425" y="3755900"/>
            <a:ext cx="78900" cy="228000"/>
          </a:xfrm>
          <a:prstGeom prst="straightConnector1">
            <a:avLst/>
          </a:prstGeom>
          <a:noFill/>
          <a:ln cap="flat" cmpd="sng" w="9525">
            <a:solidFill>
              <a:schemeClr val="dk2"/>
            </a:solidFill>
            <a:prstDash val="solid"/>
            <a:round/>
            <a:headEnd len="med" w="med" type="none"/>
            <a:tailEnd len="med" w="med" type="triangle"/>
          </a:ln>
        </p:spPr>
      </p:cxnSp>
      <p:sp>
        <p:nvSpPr>
          <p:cNvPr id="161" name="Google Shape;161;p24"/>
          <p:cNvSpPr txBox="1"/>
          <p:nvPr/>
        </p:nvSpPr>
        <p:spPr>
          <a:xfrm>
            <a:off x="6657100" y="3467925"/>
            <a:ext cx="5004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900">
                <a:solidFill>
                  <a:schemeClr val="accent1"/>
                </a:solidFill>
                <a:latin typeface="Lato"/>
                <a:ea typeface="Lato"/>
                <a:cs typeface="Lato"/>
                <a:sym typeface="Lato"/>
              </a:rPr>
              <a:t>*dev</a:t>
            </a:r>
            <a:endParaRPr b="1" i="1" sz="900">
              <a:solidFill>
                <a:schemeClr val="accent1"/>
              </a:solidFill>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Demo: print “hello world” every second</a:t>
            </a:r>
            <a:endParaRPr/>
          </a:p>
        </p:txBody>
      </p:sp>
      <p:sp>
        <p:nvSpPr>
          <p:cNvPr id="167" name="Google Shape;167;p2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Fail:</a:t>
            </a:r>
            <a:endParaRPr/>
          </a:p>
          <a:p>
            <a:pPr indent="-298450" lvl="1" marL="914400" rtl="0" algn="l">
              <a:spcBef>
                <a:spcPts val="0"/>
              </a:spcBef>
              <a:spcAft>
                <a:spcPts val="0"/>
              </a:spcAft>
              <a:buSzPts val="1100"/>
              <a:buChar char="-"/>
            </a:pPr>
            <a:r>
              <a:rPr lang="en"/>
              <a:t>Create a kernel module that tries to </a:t>
            </a:r>
            <a:r>
              <a:rPr lang="en"/>
              <a:t>register</a:t>
            </a:r>
            <a:r>
              <a:rPr lang="en"/>
              <a:t> a shared handler to IRQ 10 (system timer arch-timer in cat /proc/interrupts).</a:t>
            </a:r>
            <a:endParaRPr/>
          </a:p>
          <a:p>
            <a:pPr indent="-298450" lvl="1" marL="914400" rtl="0" algn="l">
              <a:spcBef>
                <a:spcPts val="0"/>
              </a:spcBef>
              <a:spcAft>
                <a:spcPts val="0"/>
              </a:spcAft>
              <a:buSzPts val="1100"/>
              <a:buChar char="-"/>
            </a:pPr>
            <a:r>
              <a:rPr lang="en"/>
              <a:t>Kernel gives a -22 EINVAL. Kernel doesn’t want you to hook into something like this so it is unshareable–it is critical and additional latency will mess things up!</a:t>
            </a:r>
            <a:endParaRPr/>
          </a:p>
          <a:p>
            <a:pPr indent="-311150" lvl="0" marL="457200" rtl="0" algn="l">
              <a:spcBef>
                <a:spcPts val="0"/>
              </a:spcBef>
              <a:spcAft>
                <a:spcPts val="0"/>
              </a:spcAft>
              <a:buSzPts val="1300"/>
              <a:buChar char="-"/>
            </a:pPr>
            <a:r>
              <a:rPr lang="en"/>
              <a:t>Success:</a:t>
            </a:r>
            <a:endParaRPr/>
          </a:p>
          <a:p>
            <a:pPr indent="-298450" lvl="1" marL="914400" rtl="0" algn="l">
              <a:spcBef>
                <a:spcPts val="0"/>
              </a:spcBef>
              <a:spcAft>
                <a:spcPts val="0"/>
              </a:spcAft>
              <a:buSzPts val="1100"/>
              <a:buChar char="-"/>
            </a:pPr>
            <a:r>
              <a:rPr lang="en"/>
              <a:t>Instead, use the kernel-approved approach:</a:t>
            </a:r>
            <a:endParaRPr/>
          </a:p>
          <a:p>
            <a:pPr indent="-298450" lvl="2" marL="1371600" rtl="0" algn="l">
              <a:spcBef>
                <a:spcPts val="0"/>
              </a:spcBef>
              <a:spcAft>
                <a:spcPts val="0"/>
              </a:spcAft>
              <a:buSzPts val="1100"/>
              <a:buChar char="-"/>
            </a:pPr>
            <a:r>
              <a:rPr lang="en"/>
              <a:t>Register a bottom-half function.</a:t>
            </a:r>
            <a:endParaRPr/>
          </a:p>
          <a:p>
            <a:pPr indent="-298450" lvl="2" marL="1371600" rtl="0" algn="l">
              <a:spcBef>
                <a:spcPts val="0"/>
              </a:spcBef>
              <a:spcAft>
                <a:spcPts val="0"/>
              </a:spcAft>
              <a:buSzPts val="1100"/>
              <a:buChar char="-"/>
            </a:pPr>
            <a:r>
              <a:rPr lang="en"/>
              <a:t>Top-half (hardirq): Timer hardware interrupt fires, acknowledges hardware.</a:t>
            </a:r>
            <a:endParaRPr/>
          </a:p>
          <a:p>
            <a:pPr indent="-298450" lvl="2" marL="1371600" rtl="0" algn="l">
              <a:spcBef>
                <a:spcPts val="0"/>
              </a:spcBef>
              <a:spcAft>
                <a:spcPts val="0"/>
              </a:spcAft>
              <a:buSzPts val="1100"/>
              <a:buChar char="-"/>
            </a:pPr>
            <a:r>
              <a:rPr lang="en"/>
              <a:t>Bottom-half (softirq/tasklet): Process expired timers, call callbacks like ours.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Puzzle: Nested Python signal handlers</a:t>
            </a:r>
            <a:endParaRPr/>
          </a:p>
        </p:txBody>
      </p:sp>
      <p:sp>
        <p:nvSpPr>
          <p:cNvPr id="173" name="Google Shape;173;p2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 To VSCode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a:t>
            </a:r>
            <a:endParaRPr/>
          </a:p>
        </p:txBody>
      </p:sp>
      <p:sp>
        <p:nvSpPr>
          <p:cNvPr id="179" name="Google Shape;179;p2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While we may never write kernel code at Smartleaf, these present </a:t>
            </a:r>
            <a:r>
              <a:rPr lang="en"/>
              <a:t>interesting</a:t>
            </a:r>
            <a:r>
              <a:rPr lang="en"/>
              <a:t> optimizations:</a:t>
            </a:r>
            <a:endParaRPr/>
          </a:p>
          <a:p>
            <a:pPr indent="-298450" lvl="1" marL="914400" rtl="0" algn="l">
              <a:spcBef>
                <a:spcPts val="0"/>
              </a:spcBef>
              <a:spcAft>
                <a:spcPts val="0"/>
              </a:spcAft>
              <a:buSzPts val="1100"/>
              <a:buChar char="-"/>
            </a:pPr>
            <a:r>
              <a:rPr lang="en"/>
              <a:t>Interrupts can be asynchronous and make your </a:t>
            </a:r>
            <a:r>
              <a:rPr lang="en"/>
              <a:t>system</a:t>
            </a:r>
            <a:r>
              <a:rPr lang="en"/>
              <a:t> less deterministic, so consider </a:t>
            </a:r>
            <a:r>
              <a:rPr lang="en"/>
              <a:t>disabling</a:t>
            </a:r>
            <a:r>
              <a:rPr lang="en"/>
              <a:t> some.</a:t>
            </a:r>
            <a:endParaRPr/>
          </a:p>
          <a:p>
            <a:pPr indent="-311150" lvl="0" marL="457200" rtl="0" algn="l">
              <a:spcBef>
                <a:spcPts val="0"/>
              </a:spcBef>
              <a:spcAft>
                <a:spcPts val="0"/>
              </a:spcAft>
              <a:buSzPts val="1300"/>
              <a:buChar char="-"/>
            </a:pPr>
            <a:r>
              <a:rPr lang="en"/>
              <a:t>You can look at /proc/interrupts to see the count of interrupts received from devices, to easily tell if a device is communicating with the OS or not.</a:t>
            </a:r>
            <a:endParaRPr/>
          </a:p>
          <a:p>
            <a:pPr indent="-311150" lvl="0" marL="457200" rtl="0" algn="l">
              <a:spcBef>
                <a:spcPts val="0"/>
              </a:spcBef>
              <a:spcAft>
                <a:spcPts val="0"/>
              </a:spcAft>
              <a:buSzPts val="1300"/>
              <a:buChar char="-"/>
            </a:pPr>
            <a:r>
              <a:rPr lang="en"/>
              <a:t>Better understanding of what is going on when you send CTRL+C or kill -9.</a:t>
            </a:r>
            <a:endParaRPr/>
          </a:p>
          <a:p>
            <a:pPr indent="-298450" lvl="1" marL="914400" rtl="0" algn="l">
              <a:spcBef>
                <a:spcPts val="0"/>
              </a:spcBef>
              <a:spcAft>
                <a:spcPts val="0"/>
              </a:spcAft>
              <a:buSzPts val="1100"/>
              <a:buChar char="-"/>
            </a:pPr>
            <a:r>
              <a:rPr lang="en"/>
              <a:t>Ctrl+C sends a SIGINT that asks the process to gracefully terminate itself. The process could have a signal </a:t>
            </a:r>
            <a:r>
              <a:rPr lang="en"/>
              <a:t>handler</a:t>
            </a:r>
            <a:r>
              <a:rPr lang="en"/>
              <a:t> that prints “I don’t care!” and not terminate itself.</a:t>
            </a:r>
            <a:endParaRPr/>
          </a:p>
          <a:p>
            <a:pPr indent="-298450" lvl="1" marL="914400" rtl="0" algn="l">
              <a:spcBef>
                <a:spcPts val="0"/>
              </a:spcBef>
              <a:spcAft>
                <a:spcPts val="0"/>
              </a:spcAft>
              <a:buSzPts val="1100"/>
              <a:buChar char="-"/>
            </a:pPr>
            <a:r>
              <a:rPr lang="en"/>
              <a:t>kill -9 sends a SIGKILL and the kernel simply marks the process as dead, ungracefully, risking bypassing cleanup that the process may want to do.</a:t>
            </a:r>
            <a:endParaRPr/>
          </a:p>
          <a:p>
            <a:pPr indent="-311150" lvl="0" marL="457200" rtl="0" algn="l">
              <a:spcBef>
                <a:spcPts val="0"/>
              </a:spcBef>
              <a:spcAft>
                <a:spcPts val="0"/>
              </a:spcAft>
              <a:buSzPts val="1300"/>
              <a:buChar char="-"/>
            </a:pPr>
            <a:r>
              <a:rPr lang="en"/>
              <a:t>Interrupts are cool.</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