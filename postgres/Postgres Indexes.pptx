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Roboto Slab"/>
      <p:regular r:id="rId16"/>
      <p:bold r:id="rId17"/>
    </p:embeddedFont>
    <p:embeddedFont>
      <p:font typeface="Roboto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Roboto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obotoSlab-bold.fntdata"/><Relationship Id="rId16" Type="http://schemas.openxmlformats.org/officeDocument/2006/relationships/font" Target="fonts/RobotoSlab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Roboto-bold.fntdata"/><Relationship Id="rId6" Type="http://schemas.openxmlformats.org/officeDocument/2006/relationships/slide" Target="slides/slide1.xml"/><Relationship Id="rId18" Type="http://schemas.openxmlformats.org/officeDocument/2006/relationships/font" Target="fonts/Roboto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c6f75fce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c6f75fce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c6f75fceb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c6f75fceb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620f3e31fe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620f3e31fe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c6f75fceb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c6f75fceb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c6f75fceb_0_1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c6f75fceb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620f3e31fe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620f3e31fe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c6f75fceb_0_2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c6f75fceb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c6f75fceb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c6f75fceb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c6f75fceb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c6f75fceb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c6f75fceb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c6f75fceb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524800" y="672606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6537563" y="33429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cxnSp>
        <p:nvCxnSpPr>
          <p:cNvPr id="12" name="Google Shape;12;p2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2"/>
          <p:cNvSpPr txBox="1"/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" name="Google Shape;18;p3"/>
          <p:cNvSpPr txBox="1"/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Google Shape;21;p4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" name="Google Shape;22;p4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p5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" name="Google Shape;27;p5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Google Shape;35;p7"/>
          <p:cNvCxnSpPr/>
          <p:nvPr/>
        </p:nvCxnSpPr>
        <p:spPr>
          <a:xfrm>
            <a:off x="489218" y="1412277"/>
            <a:ext cx="3315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" name="Google Shape;36;p7"/>
          <p:cNvSpPr txBox="1"/>
          <p:nvPr>
            <p:ph type="title"/>
          </p:nvPr>
        </p:nvSpPr>
        <p:spPr>
          <a:xfrm>
            <a:off x="3879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7" name="Google Shape;37;p7"/>
          <p:cNvSpPr txBox="1"/>
          <p:nvPr>
            <p:ph idx="1" type="body"/>
          </p:nvPr>
        </p:nvSpPr>
        <p:spPr>
          <a:xfrm>
            <a:off x="387900" y="1594025"/>
            <a:ext cx="2808000" cy="268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8" name="Google Shape;3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1" name="Google Shape;41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4" name="Google Shape;44;p9"/>
          <p:cNvCxnSpPr/>
          <p:nvPr/>
        </p:nvCxnSpPr>
        <p:spPr>
          <a:xfrm>
            <a:off x="5029675" y="4495503"/>
            <a:ext cx="5409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" name="Google Shape;45;p9"/>
          <p:cNvSpPr txBox="1"/>
          <p:nvPr>
            <p:ph type="title"/>
          </p:nvPr>
        </p:nvSpPr>
        <p:spPr>
          <a:xfrm>
            <a:off x="265500" y="1209075"/>
            <a:ext cx="4045200" cy="15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6" name="Google Shape;46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/>
          <p:nvPr>
            <p:ph idx="1" type="body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/>
        </p:txBody>
      </p:sp>
      <p:sp>
        <p:nvSpPr>
          <p:cNvPr id="51" name="Google Shape;51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/>
          <p:nvPr/>
        </p:nvSpPr>
        <p:spPr>
          <a:xfrm>
            <a:off x="150" y="5076825"/>
            <a:ext cx="9143700" cy="66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1"/>
          <p:cNvSpPr txBox="1"/>
          <p:nvPr>
            <p:ph hasCustomPrompt="1" type="title"/>
          </p:nvPr>
        </p:nvSpPr>
        <p:spPr>
          <a:xfrm>
            <a:off x="387900" y="1152450"/>
            <a:ext cx="83682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387900" y="2919450"/>
            <a:ext cx="83682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rina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www.interdb.jp/pg/index.html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www.postgresql.org/docs/current/bloom.html" TargetMode="External"/><Relationship Id="rId4" Type="http://schemas.openxmlformats.org/officeDocument/2006/relationships/image" Target="../media/image8.png"/><Relationship Id="rId5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1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Relationship Id="rId4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2.png"/><Relationship Id="rId6" Type="http://schemas.openxmlformats.org/officeDocument/2006/relationships/image" Target="../media/image9.png"/><Relationship Id="rId7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 txBox="1"/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Postgres Indexes</a:t>
            </a:r>
            <a:endParaRPr/>
          </a:p>
        </p:txBody>
      </p:sp>
      <p:sp>
        <p:nvSpPr>
          <p:cNvPr id="64" name="Google Shape;64;p13"/>
          <p:cNvSpPr txBox="1"/>
          <p:nvPr>
            <p:ph idx="1" type="subTitle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Zach Croft</a:t>
            </a:r>
            <a:endParaRPr/>
          </a:p>
        </p:txBody>
      </p:sp>
      <p:sp>
        <p:nvSpPr>
          <p:cNvPr id="65" name="Google Shape;65;p13"/>
          <p:cNvSpPr txBox="1"/>
          <p:nvPr/>
        </p:nvSpPr>
        <p:spPr>
          <a:xfrm>
            <a:off x="2715900" y="3868800"/>
            <a:ext cx="37122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Postgres Internals Resource: </a:t>
            </a:r>
            <a:r>
              <a:rPr lang="en" sz="8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https://www.interdb.jp/pg/index.html</a:t>
            </a:r>
            <a:r>
              <a:rPr lang="en" sz="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sz="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4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Data structure to enhance database performance.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analogous</a:t>
            </a:r>
            <a:r>
              <a:rPr lang="en"/>
              <a:t> to using binary search instead of linear search on a sorted list, or categorizing library books by sections but not one-by-one.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Supported index types: </a:t>
            </a:r>
            <a:r>
              <a:rPr lang="en"/>
              <a:t>B-tree, Hash, GiST, SP-GiST, GIN, BRIN, and </a:t>
            </a:r>
            <a:r>
              <a:rPr lang="en">
                <a:uFill>
                  <a:noFill/>
                </a:uFill>
                <a:hlinkClick r:id="rId3"/>
              </a:rPr>
              <a:t>bloom</a:t>
            </a:r>
            <a:r>
              <a:rPr lang="en"/>
              <a:t>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PG primary and secondary keys use indexes and default to B-tree.</a:t>
            </a:r>
            <a:endParaRPr/>
          </a:p>
        </p:txBody>
      </p:sp>
      <p:sp>
        <p:nvSpPr>
          <p:cNvPr id="71" name="Google Shape;71;p14"/>
          <p:cNvSpPr txBox="1"/>
          <p:nvPr>
            <p:ph type="title"/>
          </p:nvPr>
        </p:nvSpPr>
        <p:spPr>
          <a:xfrm>
            <a:off x="265500" y="1912650"/>
            <a:ext cx="4045200" cy="131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Index: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What, Why?</a:t>
            </a:r>
            <a:endParaRPr/>
          </a:p>
        </p:txBody>
      </p:sp>
      <p:pic>
        <p:nvPicPr>
          <p:cNvPr id="72" name="Google Shape;72;p14" title="Screenshot 2025-06-11 at 11.00.55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4162" y="3296925"/>
            <a:ext cx="4247874" cy="461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4" title="Screenshot 2025-06-11 at 11.02.07 P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4150" y="4036700"/>
            <a:ext cx="4247875" cy="38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/>
          <p:nvPr>
            <p:ph type="title"/>
          </p:nvPr>
        </p:nvSpPr>
        <p:spPr>
          <a:xfrm>
            <a:off x="387900" y="458025"/>
            <a:ext cx="19353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Heap and Pages</a:t>
            </a:r>
            <a:endParaRPr/>
          </a:p>
        </p:txBody>
      </p:sp>
      <p:sp>
        <p:nvSpPr>
          <p:cNvPr id="79" name="Google Shape;79;p15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Data </a:t>
            </a:r>
            <a:r>
              <a:rPr lang="en"/>
              <a:t>files</a:t>
            </a:r>
            <a:r>
              <a:rPr lang="en"/>
              <a:t> (table, index, etc.) are divided into pages (or blocks) of a fixed default length of 8KB, each identified with a block number.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Tables are organized in a ‘heap’ structure (this is distinct from the heap tree structure AND the heap related to memory allocation).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Heap tables contain ‘pages’ (this is also distinct from the page related to memory allocation, those are typically 4KB) </a:t>
            </a:r>
            <a:r>
              <a:rPr lang="en"/>
              <a:t>with header metadata, line pointer(s), free space, and heap tuple(s). A DB page could span 3 OS pages.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Line pointers grow ‘up’ and heap tuples grow ‘down’ similar to heap and stack in memory.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Heap tuples store the actual records and are identified by a </a:t>
            </a:r>
            <a:r>
              <a:rPr b="1" lang="en"/>
              <a:t>tuple identifier (TID) </a:t>
            </a:r>
            <a:r>
              <a:rPr lang="en"/>
              <a:t>built from the block number and the offset number (line pointer ID).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Line pointers are essentially mini-indexes within a page. Don’t confuse this with a PostgreSQL index.</a:t>
            </a:r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11075" y="1"/>
            <a:ext cx="4232924" cy="1548074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5"/>
          <p:cNvSpPr txBox="1"/>
          <p:nvPr/>
        </p:nvSpPr>
        <p:spPr>
          <a:xfrm>
            <a:off x="4021825" y="505800"/>
            <a:ext cx="1495500" cy="40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82" name="Google Shape;82;p15" title="Screenshot 2025-06-11 at 9.56.11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47425" y="0"/>
            <a:ext cx="2563651" cy="1144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6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B-tree (Original)</a:t>
            </a:r>
            <a:endParaRPr/>
          </a:p>
        </p:txBody>
      </p:sp>
      <p:sp>
        <p:nvSpPr>
          <p:cNvPr id="88" name="Google Shape;88;p16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B-trees (bee trees) are balanced trees with pages as nodes.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Each node contains elements, which are key-value pairs from key to TID.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Postgres does not actually map to the primary key, which is not universal between different DB engines.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a node has m child nodes, then it can have at most m-1 elements.</a:t>
            </a:r>
            <a:endParaRPr/>
          </a:p>
          <a:p>
            <a:pPr indent="0" lvl="0" marL="9144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89" name="Google Shape;89;p16" title="Screenshot 2025-06-11 at 3.31.51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825" y="3214075"/>
            <a:ext cx="3151654" cy="185867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90" name="Google Shape;90;p16"/>
          <p:cNvSpPr txBox="1"/>
          <p:nvPr/>
        </p:nvSpPr>
        <p:spPr>
          <a:xfrm>
            <a:off x="3365000" y="3223525"/>
            <a:ext cx="2220600" cy="18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(left) I added sequentially, (right) added in a different order. 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Ordering of the tree is dependent on input order.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91" name="Google Shape;91;p16" title="Screenshot 2025-06-11 at 3.39.38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95212" y="3223586"/>
            <a:ext cx="3388588" cy="1858675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6"/>
          <p:cNvSpPr txBox="1"/>
          <p:nvPr/>
        </p:nvSpPr>
        <p:spPr>
          <a:xfrm>
            <a:off x="5527500" y="181900"/>
            <a:ext cx="3334800" cy="13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Note: these images only show the </a:t>
            </a:r>
            <a:r>
              <a:rPr b="1"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key.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3" name="Google Shape;93;p16"/>
          <p:cNvSpPr/>
          <p:nvPr/>
        </p:nvSpPr>
        <p:spPr>
          <a:xfrm>
            <a:off x="1606725" y="3749000"/>
            <a:ext cx="960000" cy="4647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" name="Google Shape;94;p16"/>
          <p:cNvSpPr/>
          <p:nvPr/>
        </p:nvSpPr>
        <p:spPr>
          <a:xfrm>
            <a:off x="7336300" y="3860150"/>
            <a:ext cx="1182300" cy="5457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7"/>
          <p:cNvSpPr txBox="1"/>
          <p:nvPr>
            <p:ph idx="4294967295"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B-tree Limitations</a:t>
            </a:r>
            <a:endParaRPr/>
          </a:p>
        </p:txBody>
      </p:sp>
      <p:sp>
        <p:nvSpPr>
          <p:cNvPr id="100" name="Google Shape;100;p17"/>
          <p:cNvSpPr txBox="1"/>
          <p:nvPr>
            <p:ph idx="4294967295" type="body"/>
          </p:nvPr>
        </p:nvSpPr>
        <p:spPr>
          <a:xfrm>
            <a:off x="311700" y="1195201"/>
            <a:ext cx="3853200" cy="52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400">
                <a:solidFill>
                  <a:schemeClr val="accent5"/>
                </a:solidFill>
              </a:rPr>
              <a:t>Storage</a:t>
            </a:r>
            <a:endParaRPr sz="2400">
              <a:solidFill>
                <a:schemeClr val="accent5"/>
              </a:solidFill>
            </a:endParaRPr>
          </a:p>
        </p:txBody>
      </p:sp>
      <p:cxnSp>
        <p:nvCxnSpPr>
          <p:cNvPr id="101" name="Google Shape;101;p17"/>
          <p:cNvCxnSpPr/>
          <p:nvPr/>
        </p:nvCxnSpPr>
        <p:spPr>
          <a:xfrm>
            <a:off x="418675" y="1811883"/>
            <a:ext cx="2709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2" name="Google Shape;102;p17"/>
          <p:cNvSpPr txBox="1"/>
          <p:nvPr>
            <p:ph idx="4294967295" type="body"/>
          </p:nvPr>
        </p:nvSpPr>
        <p:spPr>
          <a:xfrm>
            <a:off x="311700" y="1916330"/>
            <a:ext cx="3853200" cy="275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All nodes (root, internal, leaf) have key-value pair elements</a:t>
            </a:r>
            <a:r>
              <a:rPr lang="en" sz="1400"/>
              <a:t> (we will see, not necessary)</a:t>
            </a:r>
            <a:r>
              <a:rPr lang="en" sz="1400"/>
              <a:t>, taking more storage, therefore taller trees, and therefore more IO to disk (fetches more OS pages).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Indexes may not entirely fit in memory if they are large–the </a:t>
            </a:r>
            <a:r>
              <a:rPr lang="en"/>
              <a:t>database</a:t>
            </a:r>
            <a:r>
              <a:rPr lang="en"/>
              <a:t> might have to use </a:t>
            </a:r>
            <a:r>
              <a:rPr lang="en"/>
              <a:t>the </a:t>
            </a:r>
            <a:r>
              <a:rPr lang="en"/>
              <a:t>swap which is </a:t>
            </a:r>
            <a:r>
              <a:rPr lang="en" u="sng"/>
              <a:t>slow</a:t>
            </a:r>
            <a:r>
              <a:rPr lang="en"/>
              <a:t>.</a:t>
            </a:r>
            <a:endParaRPr sz="1400"/>
          </a:p>
        </p:txBody>
      </p:sp>
      <p:sp>
        <p:nvSpPr>
          <p:cNvPr id="103" name="Google Shape;103;p17"/>
          <p:cNvSpPr txBox="1"/>
          <p:nvPr>
            <p:ph idx="4294967295" type="body"/>
          </p:nvPr>
        </p:nvSpPr>
        <p:spPr>
          <a:xfrm>
            <a:off x="4905750" y="1201619"/>
            <a:ext cx="3853200" cy="52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400">
                <a:solidFill>
                  <a:schemeClr val="accent5"/>
                </a:solidFill>
              </a:rPr>
              <a:t>Performance: Range Query</a:t>
            </a:r>
            <a:endParaRPr sz="2400">
              <a:solidFill>
                <a:schemeClr val="accent5"/>
              </a:solidFill>
            </a:endParaRPr>
          </a:p>
        </p:txBody>
      </p:sp>
      <p:cxnSp>
        <p:nvCxnSpPr>
          <p:cNvPr id="104" name="Google Shape;104;p17"/>
          <p:cNvCxnSpPr/>
          <p:nvPr/>
        </p:nvCxnSpPr>
        <p:spPr>
          <a:xfrm>
            <a:off x="5012725" y="1811883"/>
            <a:ext cx="2709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5" name="Google Shape;105;p17"/>
          <p:cNvSpPr txBox="1"/>
          <p:nvPr>
            <p:ph idx="4294967295" type="body"/>
          </p:nvPr>
        </p:nvSpPr>
        <p:spPr>
          <a:xfrm>
            <a:off x="4905750" y="1916330"/>
            <a:ext cx="3853200" cy="275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Consider the above b-tree on id: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SELECT id FROM grades WHERE id &gt;= 1 AND id &lt; 8;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To get to id=1, fetches 3 pages.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id=2 will probably be cached unless moved into swap.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id=4 is probably cached.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Id=5, fetches 2 pages.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id=6 is </a:t>
            </a:r>
            <a:r>
              <a:rPr lang="en"/>
              <a:t>probably</a:t>
            </a:r>
            <a:r>
              <a:rPr lang="en"/>
              <a:t> cached.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We got id=8 whether we wanted it or not–page IO fetches everything in it.</a:t>
            </a:r>
            <a:endParaRPr/>
          </a:p>
        </p:txBody>
      </p:sp>
      <p:pic>
        <p:nvPicPr>
          <p:cNvPr id="106" name="Google Shape;106;p17" title="Screenshot 2025-06-11 at 3.31.51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17364" y="140663"/>
            <a:ext cx="2029975" cy="119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8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B+tree (Fancy)</a:t>
            </a:r>
            <a:endParaRPr/>
          </a:p>
        </p:txBody>
      </p:sp>
      <p:sp>
        <p:nvSpPr>
          <p:cNvPr id="112" name="Google Shape;112;p18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B+trees are balanced trees with pages as nodes, but: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Internal nodes (everything except leaf nodes), are just keys.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Nodes are pages; height is reduced and therefore traversal times are reduced.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Some keys are duplicated, and searches </a:t>
            </a:r>
            <a:r>
              <a:rPr lang="en" u="sng"/>
              <a:t>always</a:t>
            </a:r>
            <a:r>
              <a:rPr lang="en"/>
              <a:t> go to the leaf nodes.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Postgres often operates by keeping all internal nodes in memory and then leaving the leaf nodes in the heap for quicker traversal.</a:t>
            </a:r>
            <a:endParaRPr/>
          </a:p>
          <a:p>
            <a:pPr indent="0" lvl="0" marL="9144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8"/>
          <p:cNvSpPr txBox="1"/>
          <p:nvPr/>
        </p:nvSpPr>
        <p:spPr>
          <a:xfrm>
            <a:off x="3365000" y="3223525"/>
            <a:ext cx="2220600" cy="18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4" name="Google Shape;114;p18"/>
          <p:cNvSpPr txBox="1"/>
          <p:nvPr/>
        </p:nvSpPr>
        <p:spPr>
          <a:xfrm>
            <a:off x="5527500" y="181900"/>
            <a:ext cx="3334800" cy="13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5" name="Google Shape;11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973" y="3408175"/>
            <a:ext cx="3272024" cy="167415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8"/>
          <p:cNvSpPr txBox="1"/>
          <p:nvPr/>
        </p:nvSpPr>
        <p:spPr>
          <a:xfrm>
            <a:off x="3519625" y="3408175"/>
            <a:ext cx="46464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Postgres really uses B+trees (modified) in all instances that there is a B-tree. B+trees are not always better as there are trade-offs, and also other indexes might be a better fit for situations.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7" name="Google Shape;117;p18"/>
          <p:cNvSpPr txBox="1"/>
          <p:nvPr/>
        </p:nvSpPr>
        <p:spPr>
          <a:xfrm>
            <a:off x="5622075" y="185850"/>
            <a:ext cx="3240300" cy="12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Consequent nodes are doubly-linked which makes range queries much easier.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9"/>
          <p:cNvSpPr/>
          <p:nvPr/>
        </p:nvSpPr>
        <p:spPr>
          <a:xfrm>
            <a:off x="0" y="0"/>
            <a:ext cx="9161100" cy="2484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19"/>
          <p:cNvSpPr txBox="1"/>
          <p:nvPr>
            <p:ph idx="4294967295"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How Do Indexes Perform?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124" name="Google Shape;124;p19"/>
          <p:cNvSpPr txBox="1"/>
          <p:nvPr>
            <p:ph idx="4294967295" type="body"/>
          </p:nvPr>
        </p:nvSpPr>
        <p:spPr>
          <a:xfrm>
            <a:off x="164950" y="3108900"/>
            <a:ext cx="2177400" cy="4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lang="en">
                <a:solidFill>
                  <a:schemeClr val="accent5"/>
                </a:solidFill>
              </a:rPr>
              <a:t>Table Scan</a:t>
            </a:r>
            <a:endParaRPr>
              <a:solidFill>
                <a:schemeClr val="accent5"/>
              </a:solidFill>
            </a:endParaRPr>
          </a:p>
        </p:txBody>
      </p:sp>
      <p:cxnSp>
        <p:nvCxnSpPr>
          <p:cNvPr id="125" name="Google Shape;125;p19"/>
          <p:cNvCxnSpPr/>
          <p:nvPr/>
        </p:nvCxnSpPr>
        <p:spPr>
          <a:xfrm>
            <a:off x="1118175" y="3613373"/>
            <a:ext cx="2709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6" name="Google Shape;126;p19"/>
          <p:cNvSpPr txBox="1"/>
          <p:nvPr>
            <p:ph idx="4294967295" type="body"/>
          </p:nvPr>
        </p:nvSpPr>
        <p:spPr>
          <a:xfrm>
            <a:off x="164925" y="3641661"/>
            <a:ext cx="2177400" cy="115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Generally, the slowest way queries can be made.</a:t>
            </a:r>
            <a:endParaRPr sz="1000"/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SzPts val="1000"/>
              <a:buChar char="○"/>
            </a:pPr>
            <a:r>
              <a:rPr lang="en" sz="1000"/>
              <a:t>DB engines often use </a:t>
            </a:r>
            <a:r>
              <a:rPr lang="en" sz="1000"/>
              <a:t>multiple</a:t>
            </a:r>
            <a:r>
              <a:rPr lang="en" sz="1000"/>
              <a:t> workers for speed.</a:t>
            </a:r>
            <a:endParaRPr sz="1000"/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SzPts val="1000"/>
              <a:buChar char="○"/>
            </a:pPr>
            <a:r>
              <a:rPr lang="en" sz="1000"/>
              <a:t>Buffer system and cache layers help.</a:t>
            </a:r>
            <a:endParaRPr sz="1000"/>
          </a:p>
        </p:txBody>
      </p:sp>
      <p:sp>
        <p:nvSpPr>
          <p:cNvPr id="127" name="Google Shape;127;p19"/>
          <p:cNvSpPr txBox="1"/>
          <p:nvPr>
            <p:ph idx="4294967295" type="body"/>
          </p:nvPr>
        </p:nvSpPr>
        <p:spPr>
          <a:xfrm>
            <a:off x="2374559" y="3108900"/>
            <a:ext cx="2177400" cy="4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lang="en">
                <a:solidFill>
                  <a:schemeClr val="accent5"/>
                </a:solidFill>
              </a:rPr>
              <a:t>Index Scan</a:t>
            </a:r>
            <a:endParaRPr>
              <a:solidFill>
                <a:schemeClr val="accent5"/>
              </a:solidFill>
            </a:endParaRPr>
          </a:p>
        </p:txBody>
      </p:sp>
      <p:cxnSp>
        <p:nvCxnSpPr>
          <p:cNvPr id="128" name="Google Shape;128;p19"/>
          <p:cNvCxnSpPr/>
          <p:nvPr/>
        </p:nvCxnSpPr>
        <p:spPr>
          <a:xfrm>
            <a:off x="3327800" y="3613373"/>
            <a:ext cx="2709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9" name="Google Shape;129;p19"/>
          <p:cNvSpPr txBox="1"/>
          <p:nvPr>
            <p:ph idx="4294967295" type="body"/>
          </p:nvPr>
        </p:nvSpPr>
        <p:spPr>
          <a:xfrm>
            <a:off x="2374545" y="3641661"/>
            <a:ext cx="2177400" cy="115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2100" lvl="0" marL="457200" rtl="0" algn="ctr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A typical index scan where a key-value pair is found and then the </a:t>
            </a:r>
            <a:r>
              <a:rPr lang="en" sz="1000"/>
              <a:t>corresponding</a:t>
            </a:r>
            <a:r>
              <a:rPr lang="en" sz="1000"/>
              <a:t> heap table page is fetched.</a:t>
            </a:r>
            <a:endParaRPr sz="1000"/>
          </a:p>
          <a:p>
            <a:pPr indent="-292100" lvl="0" marL="457200" rtl="0" algn="ctr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SELECT * and SELECT name are same (row-based).</a:t>
            </a:r>
            <a:endParaRPr sz="1000"/>
          </a:p>
        </p:txBody>
      </p:sp>
      <p:sp>
        <p:nvSpPr>
          <p:cNvPr id="130" name="Google Shape;130;p19"/>
          <p:cNvSpPr txBox="1"/>
          <p:nvPr>
            <p:ph idx="4294967295" type="body"/>
          </p:nvPr>
        </p:nvSpPr>
        <p:spPr>
          <a:xfrm>
            <a:off x="4584180" y="3108900"/>
            <a:ext cx="2177400" cy="4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lang="en">
                <a:solidFill>
                  <a:schemeClr val="accent5"/>
                </a:solidFill>
              </a:rPr>
              <a:t>Index-Only Scan</a:t>
            </a:r>
            <a:endParaRPr>
              <a:solidFill>
                <a:schemeClr val="accent5"/>
              </a:solidFill>
            </a:endParaRPr>
          </a:p>
        </p:txBody>
      </p:sp>
      <p:cxnSp>
        <p:nvCxnSpPr>
          <p:cNvPr id="131" name="Google Shape;131;p19"/>
          <p:cNvCxnSpPr/>
          <p:nvPr/>
        </p:nvCxnSpPr>
        <p:spPr>
          <a:xfrm>
            <a:off x="5554075" y="3613373"/>
            <a:ext cx="2709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2" name="Google Shape;132;p19"/>
          <p:cNvSpPr txBox="1"/>
          <p:nvPr>
            <p:ph idx="4294967295" type="body"/>
          </p:nvPr>
        </p:nvSpPr>
        <p:spPr>
          <a:xfrm>
            <a:off x="4584169" y="3641661"/>
            <a:ext cx="2177400" cy="115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Never jump to the heap!</a:t>
            </a:r>
            <a:endParaRPr sz="1000"/>
          </a:p>
          <a:p>
            <a:pPr indent="-292100" lvl="0" marL="457200" rtl="0" algn="ctr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All requested values are </a:t>
            </a:r>
            <a:r>
              <a:rPr b="1" lang="en" sz="1000"/>
              <a:t>in </a:t>
            </a:r>
            <a:r>
              <a:rPr lang="en" sz="1000"/>
              <a:t>the index file.</a:t>
            </a:r>
            <a:endParaRPr sz="1000"/>
          </a:p>
          <a:p>
            <a:pPr indent="-292100" lvl="0" marL="457200" rtl="0" algn="ctr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Composite indexes (including other </a:t>
            </a:r>
            <a:r>
              <a:rPr lang="en" sz="1000"/>
              <a:t>values</a:t>
            </a:r>
            <a:r>
              <a:rPr lang="en" sz="1000"/>
              <a:t> in your index) work well here.</a:t>
            </a:r>
            <a:endParaRPr sz="1000"/>
          </a:p>
        </p:txBody>
      </p:sp>
      <p:sp>
        <p:nvSpPr>
          <p:cNvPr id="133" name="Google Shape;133;p19"/>
          <p:cNvSpPr txBox="1"/>
          <p:nvPr>
            <p:ph idx="4294967295" type="body"/>
          </p:nvPr>
        </p:nvSpPr>
        <p:spPr>
          <a:xfrm>
            <a:off x="6793801" y="3108900"/>
            <a:ext cx="2177400" cy="4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lang="en">
                <a:solidFill>
                  <a:schemeClr val="accent5"/>
                </a:solidFill>
              </a:rPr>
              <a:t>Bitmap Index Scan</a:t>
            </a:r>
            <a:endParaRPr>
              <a:solidFill>
                <a:schemeClr val="accent5"/>
              </a:solidFill>
            </a:endParaRPr>
          </a:p>
        </p:txBody>
      </p:sp>
      <p:cxnSp>
        <p:nvCxnSpPr>
          <p:cNvPr id="134" name="Google Shape;134;p19"/>
          <p:cNvCxnSpPr/>
          <p:nvPr/>
        </p:nvCxnSpPr>
        <p:spPr>
          <a:xfrm>
            <a:off x="7747050" y="3613373"/>
            <a:ext cx="2709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5" name="Google Shape;135;p19"/>
          <p:cNvSpPr txBox="1"/>
          <p:nvPr>
            <p:ph idx="4294967295" type="body"/>
          </p:nvPr>
        </p:nvSpPr>
        <p:spPr>
          <a:xfrm>
            <a:off x="6793795" y="3641661"/>
            <a:ext cx="2177400" cy="115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2100" lvl="0" marL="457200" rtl="0" algn="ctr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Works with bitmap heap scans to create a bitmap for heap pages to include.</a:t>
            </a:r>
            <a:endParaRPr sz="1000"/>
          </a:p>
          <a:p>
            <a:pPr indent="-292100" lvl="0" marL="457200" rtl="0" algn="ctr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BitmapAnd takes the intersection of multiple bitmaps.</a:t>
            </a:r>
            <a:endParaRPr sz="1000"/>
          </a:p>
        </p:txBody>
      </p:sp>
      <p:sp>
        <p:nvSpPr>
          <p:cNvPr id="136" name="Google Shape;136;p19"/>
          <p:cNvSpPr txBox="1"/>
          <p:nvPr/>
        </p:nvSpPr>
        <p:spPr>
          <a:xfrm>
            <a:off x="3415050" y="2427725"/>
            <a:ext cx="5319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37" name="Google Shape;137;p19" title="Screenshot 2025-06-11 at 9.12.27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925" y="1282850"/>
            <a:ext cx="2319450" cy="1047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9" title="Screenshot 2025-06-11 at 9.18.26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83700" y="0"/>
            <a:ext cx="2177401" cy="11015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862051" y="1194388"/>
            <a:ext cx="2177398" cy="12247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9" title="Screenshot 2025-06-11 at 9.33.07 PM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014477" y="218650"/>
            <a:ext cx="3132125" cy="351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9" title="Screenshot 2025-06-11 at 9.35.05 PM.png"/>
          <p:cNvPicPr preferRelativeResize="0"/>
          <p:nvPr/>
        </p:nvPicPr>
        <p:blipFill rotWithShape="1">
          <a:blip r:embed="rId7">
            <a:alphaModFix/>
          </a:blip>
          <a:srcRect b="30478" l="0" r="0" t="0"/>
          <a:stretch/>
        </p:blipFill>
        <p:spPr>
          <a:xfrm>
            <a:off x="3252863" y="1065975"/>
            <a:ext cx="2638263" cy="1224774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9"/>
          <p:cNvSpPr/>
          <p:nvPr/>
        </p:nvSpPr>
        <p:spPr>
          <a:xfrm rot="-6048264">
            <a:off x="639001" y="2663166"/>
            <a:ext cx="720166" cy="287418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3" name="Google Shape;143;p19"/>
          <p:cNvSpPr/>
          <p:nvPr/>
        </p:nvSpPr>
        <p:spPr>
          <a:xfrm rot="-6048264">
            <a:off x="5032226" y="2663166"/>
            <a:ext cx="720166" cy="287418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4" name="Google Shape;144;p19"/>
          <p:cNvSpPr/>
          <p:nvPr/>
        </p:nvSpPr>
        <p:spPr>
          <a:xfrm rot="-6048264">
            <a:off x="7712326" y="2663166"/>
            <a:ext cx="720166" cy="287418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5" name="Google Shape;145;p19"/>
          <p:cNvSpPr/>
          <p:nvPr/>
        </p:nvSpPr>
        <p:spPr>
          <a:xfrm rot="7256783">
            <a:off x="2422859" y="671013"/>
            <a:ext cx="848249" cy="824582"/>
          </a:xfrm>
          <a:prstGeom prst="leftUpArrow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0"/>
          <p:cNvSpPr/>
          <p:nvPr/>
        </p:nvSpPr>
        <p:spPr>
          <a:xfrm>
            <a:off x="0" y="0"/>
            <a:ext cx="9161100" cy="2484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0"/>
          <p:cNvSpPr txBox="1"/>
          <p:nvPr>
            <p:ph idx="4294967295"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Shopify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152" name="Google Shape;152;p20"/>
          <p:cNvSpPr txBox="1"/>
          <p:nvPr>
            <p:ph idx="4294967295" type="body"/>
          </p:nvPr>
        </p:nvSpPr>
        <p:spPr>
          <a:xfrm>
            <a:off x="311700" y="3198825"/>
            <a:ext cx="8520600" cy="160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400"/>
              <a:t>“</a:t>
            </a:r>
            <a:r>
              <a:rPr lang="en" sz="2400">
                <a:solidFill>
                  <a:srgbClr val="FAF9FF"/>
                </a:solidFill>
              </a:rPr>
              <a:t>In one high-throughput system at Shopify we’ve seen a 50 percent decrease in INSERT statement duration by switching from UUIDv4 to ULID for idempotency keys.”</a:t>
            </a:r>
            <a:endParaRPr sz="2400"/>
          </a:p>
        </p:txBody>
      </p:sp>
      <p:pic>
        <p:nvPicPr>
          <p:cNvPr id="153" name="Google Shape;15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43113" y="1288951"/>
            <a:ext cx="1674873" cy="19098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1"/>
          <p:cNvSpPr txBox="1"/>
          <p:nvPr>
            <p:ph type="title"/>
          </p:nvPr>
        </p:nvSpPr>
        <p:spPr>
          <a:xfrm>
            <a:off x="265500" y="1818600"/>
            <a:ext cx="4045200" cy="150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Line Pointers (mini-indexes)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And Clustering</a:t>
            </a:r>
            <a:endParaRPr/>
          </a:p>
        </p:txBody>
      </p:sp>
      <p:sp>
        <p:nvSpPr>
          <p:cNvPr id="159" name="Google Shape;159;p21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If I don’t really mind how long insertion takes, can I just sort the heap table pages and heap tuples on insertion and skip the IO’s from the index? </a:t>
            </a:r>
            <a:r>
              <a:rPr lang="en" u="sng"/>
              <a:t>Index-organized tables</a:t>
            </a:r>
            <a:r>
              <a:rPr lang="en"/>
              <a:t>… are not in Postgres. But you can cluster periodically.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Demo!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2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Indexes are generally useful but can slow down smaller </a:t>
            </a:r>
            <a:r>
              <a:rPr lang="en" sz="1700"/>
              <a:t>queries, the planner takes note of this and may skip indexes</a:t>
            </a:r>
            <a:r>
              <a:rPr lang="en" sz="1700"/>
              <a:t>.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Indexes help most on massive tables, but horizontal partitioning and/or sharding can help by splitting massive tables into smaller tables.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How do indexes work with locking and transactions?</a:t>
            </a:r>
            <a:endParaRPr sz="1700"/>
          </a:p>
        </p:txBody>
      </p:sp>
      <p:sp>
        <p:nvSpPr>
          <p:cNvPr id="165" name="Google Shape;165;p22"/>
          <p:cNvSpPr txBox="1"/>
          <p:nvPr>
            <p:ph type="title"/>
          </p:nvPr>
        </p:nvSpPr>
        <p:spPr>
          <a:xfrm>
            <a:off x="265500" y="1818600"/>
            <a:ext cx="4045200" cy="150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Final Thoughts And Discussion</a:t>
            </a:r>
            <a:endParaRPr/>
          </a:p>
        </p:txBody>
      </p:sp>
      <p:pic>
        <p:nvPicPr>
          <p:cNvPr id="166" name="Google Shape;166;p22" title="Screenshot 2025-06-11 at 10.42.22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96000" y="4585075"/>
            <a:ext cx="15240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22" title="Screenshot 2025-06-11 at 10.45.16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30950" y="4117650"/>
            <a:ext cx="2054100" cy="301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